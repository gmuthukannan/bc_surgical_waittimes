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256" r:id="rId5"/>
    <p:sldId id="2439" r:id="rId6"/>
    <p:sldId id="2440" r:id="rId7"/>
    <p:sldId id="2441" r:id="rId8"/>
    <p:sldId id="2442" r:id="rId9"/>
    <p:sldId id="2446" r:id="rId10"/>
    <p:sldId id="2447" r:id="rId11"/>
    <p:sldId id="2443" r:id="rId12"/>
    <p:sldId id="2448" r:id="rId13"/>
    <p:sldId id="2449" r:id="rId14"/>
    <p:sldId id="2450" r:id="rId15"/>
    <p:sldId id="2454" r:id="rId16"/>
    <p:sldId id="2455" r:id="rId17"/>
    <p:sldId id="2456" r:id="rId18"/>
    <p:sldId id="2457" r:id="rId19"/>
    <p:sldId id="2445" r:id="rId20"/>
    <p:sldId id="243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584" autoAdjust="0"/>
  </p:normalViewPr>
  <p:slideViewPr>
    <p:cSldViewPr snapToGrid="0" showGuides="1">
      <p:cViewPr>
        <p:scale>
          <a:sx n="96" d="100"/>
          <a:sy n="96" d="100"/>
        </p:scale>
        <p:origin x="486" y="360"/>
      </p:cViewPr>
      <p:guideLst>
        <p:guide orient="horz" pos="2160"/>
        <p:guide pos="3840"/>
      </p:guideLst>
    </p:cSldViewPr>
  </p:slideViewPr>
  <p:notesTextViewPr>
    <p:cViewPr>
      <p:scale>
        <a:sx n="1" d="1"/>
        <a:sy n="1" d="1"/>
      </p:scale>
      <p:origin x="0" y="0"/>
    </p:cViewPr>
  </p:notesTextViewPr>
  <p:sorterViewPr>
    <p:cViewPr>
      <p:scale>
        <a:sx n="100" d="100"/>
        <a:sy n="100" d="100"/>
      </p:scale>
      <p:origin x="0" y="-1014"/>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3C6EEF-D908-4B42-9CF2-33533DC7C6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71ECC3-B547-4819-B178-239BC0111C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08C83-94D0-4DB0-A467-20A83CD5F1C3}" type="datetimeFigureOut">
              <a:rPr lang="en-US" smtClean="0"/>
              <a:t>10/31/2025</a:t>
            </a:fld>
            <a:endParaRPr lang="en-US" dirty="0"/>
          </a:p>
        </p:txBody>
      </p:sp>
      <p:sp>
        <p:nvSpPr>
          <p:cNvPr id="4" name="Footer Placeholder 3">
            <a:extLst>
              <a:ext uri="{FF2B5EF4-FFF2-40B4-BE49-F238E27FC236}">
                <a16:creationId xmlns:a16="http://schemas.microsoft.com/office/drawing/2014/main" id="{6D4FF242-945C-44B0-95A6-CF62523278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F0E7E7A-C631-4CA4-A0E6-20EB28A8CA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3D0191-2BEA-48B8-8E8A-2A9D1EC3A210}" type="slidenum">
              <a:rPr lang="en-US" smtClean="0"/>
              <a:t>‹#›</a:t>
            </a:fld>
            <a:endParaRPr lang="en-US" dirty="0"/>
          </a:p>
        </p:txBody>
      </p:sp>
    </p:spTree>
    <p:extLst>
      <p:ext uri="{BB962C8B-B14F-4D97-AF65-F5344CB8AC3E}">
        <p14:creationId xmlns:p14="http://schemas.microsoft.com/office/powerpoint/2010/main" val="5478581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9477E-0D72-4CFB-824B-0CD317F7397E}" type="datetimeFigureOut">
              <a:rPr lang="en-US" smtClean="0"/>
              <a:t>10/31/2025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60C251-82B7-4253-A774-38D73C276BCE}" type="slidenum">
              <a:rPr lang="en-US" smtClean="0"/>
              <a:t>‹#›</a:t>
            </a:fld>
            <a:endParaRPr lang="en-US" dirty="0"/>
          </a:p>
        </p:txBody>
      </p:sp>
    </p:spTree>
    <p:extLst>
      <p:ext uri="{BB962C8B-B14F-4D97-AF65-F5344CB8AC3E}">
        <p14:creationId xmlns:p14="http://schemas.microsoft.com/office/powerpoint/2010/main" val="275054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89491-D53A-704E-41A8-0312AD9C7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0A850-A94D-8B6E-8D9A-5FF07B5EA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677EE-D585-61ED-023B-5D33B88158C4}"/>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17022AA6-2BC8-5B47-4E93-0BDA30BF00B9}"/>
              </a:ext>
            </a:extLst>
          </p:cNvPr>
          <p:cNvSpPr>
            <a:spLocks noGrp="1"/>
          </p:cNvSpPr>
          <p:nvPr>
            <p:ph type="sldNum" sz="quarter" idx="10"/>
          </p:nvPr>
        </p:nvSpPr>
        <p:spPr/>
        <p:txBody>
          <a:bodyPr/>
          <a:lstStyle/>
          <a:p>
            <a:fld id="{336D9429-67C4-4688-B497-2D10480057F2}" type="slidenum">
              <a:rPr lang="en-US" smtClean="0"/>
              <a:t>2</a:t>
            </a:fld>
            <a:endParaRPr lang="en-US" dirty="0"/>
          </a:p>
        </p:txBody>
      </p:sp>
    </p:spTree>
    <p:extLst>
      <p:ext uri="{BB962C8B-B14F-4D97-AF65-F5344CB8AC3E}">
        <p14:creationId xmlns:p14="http://schemas.microsoft.com/office/powerpoint/2010/main" val="4195032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6BDA4-4E73-7D48-C459-622C2CDE5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95AFD9-65D1-1033-0827-D21D9F20D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27CD1-2B13-5385-68B2-0151EBB0B862}"/>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275B9035-A2C4-5661-0F60-CB287D494F45}"/>
              </a:ext>
            </a:extLst>
          </p:cNvPr>
          <p:cNvSpPr>
            <a:spLocks noGrp="1"/>
          </p:cNvSpPr>
          <p:nvPr>
            <p:ph type="sldNum" sz="quarter" idx="10"/>
          </p:nvPr>
        </p:nvSpPr>
        <p:spPr/>
        <p:txBody>
          <a:bodyPr/>
          <a:lstStyle/>
          <a:p>
            <a:fld id="{336D9429-67C4-4688-B497-2D10480057F2}" type="slidenum">
              <a:rPr lang="en-US" smtClean="0"/>
              <a:t>3</a:t>
            </a:fld>
            <a:endParaRPr lang="en-US" dirty="0"/>
          </a:p>
        </p:txBody>
      </p:sp>
    </p:spTree>
    <p:extLst>
      <p:ext uri="{BB962C8B-B14F-4D97-AF65-F5344CB8AC3E}">
        <p14:creationId xmlns:p14="http://schemas.microsoft.com/office/powerpoint/2010/main" val="3978927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83915-180F-D8C3-A074-EC60E3602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BB025-347C-184E-9F76-21370A0027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EE571-58DB-0BD9-B9E1-20468337BE00}"/>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FF29E3E5-340D-DF5F-C077-E529F63C6CE3}"/>
              </a:ext>
            </a:extLst>
          </p:cNvPr>
          <p:cNvSpPr>
            <a:spLocks noGrp="1"/>
          </p:cNvSpPr>
          <p:nvPr>
            <p:ph type="sldNum" sz="quarter" idx="10"/>
          </p:nvPr>
        </p:nvSpPr>
        <p:spPr/>
        <p:txBody>
          <a:bodyPr/>
          <a:lstStyle/>
          <a:p>
            <a:fld id="{336D9429-67C4-4688-B497-2D10480057F2}" type="slidenum">
              <a:rPr lang="en-US" smtClean="0"/>
              <a:t>4</a:t>
            </a:fld>
            <a:endParaRPr lang="en-US" dirty="0"/>
          </a:p>
        </p:txBody>
      </p:sp>
    </p:spTree>
    <p:extLst>
      <p:ext uri="{BB962C8B-B14F-4D97-AF65-F5344CB8AC3E}">
        <p14:creationId xmlns:p14="http://schemas.microsoft.com/office/powerpoint/2010/main" val="2790209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0DD5E-A75D-E53C-E94E-767E41707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EEBE4-46D6-0509-F47D-EF894BCFF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056FF-F87F-7CE2-7CC1-B300CB33B398}"/>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4C13EDCC-EA2B-8F18-C3CD-5A107316F7FA}"/>
              </a:ext>
            </a:extLst>
          </p:cNvPr>
          <p:cNvSpPr>
            <a:spLocks noGrp="1"/>
          </p:cNvSpPr>
          <p:nvPr>
            <p:ph type="sldNum" sz="quarter" idx="10"/>
          </p:nvPr>
        </p:nvSpPr>
        <p:spPr/>
        <p:txBody>
          <a:bodyPr/>
          <a:lstStyle/>
          <a:p>
            <a:fld id="{336D9429-67C4-4688-B497-2D10480057F2}" type="slidenum">
              <a:rPr lang="en-US" smtClean="0"/>
              <a:t>5</a:t>
            </a:fld>
            <a:endParaRPr lang="en-US" dirty="0"/>
          </a:p>
        </p:txBody>
      </p:sp>
    </p:spTree>
    <p:extLst>
      <p:ext uri="{BB962C8B-B14F-4D97-AF65-F5344CB8AC3E}">
        <p14:creationId xmlns:p14="http://schemas.microsoft.com/office/powerpoint/2010/main" val="3954134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FC387-A5E9-8B4E-61BE-83270EF49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744BF-01A7-07F5-FC11-5594CD6BF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66E3DF-48AF-1C38-8835-B959943F4128}"/>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3ADB1249-8219-400D-5A21-434CABD4A692}"/>
              </a:ext>
            </a:extLst>
          </p:cNvPr>
          <p:cNvSpPr>
            <a:spLocks noGrp="1"/>
          </p:cNvSpPr>
          <p:nvPr>
            <p:ph type="sldNum" sz="quarter" idx="10"/>
          </p:nvPr>
        </p:nvSpPr>
        <p:spPr/>
        <p:txBody>
          <a:bodyPr/>
          <a:lstStyle/>
          <a:p>
            <a:fld id="{336D9429-67C4-4688-B497-2D10480057F2}" type="slidenum">
              <a:rPr lang="en-US" smtClean="0"/>
              <a:t>6</a:t>
            </a:fld>
            <a:endParaRPr lang="en-US" dirty="0"/>
          </a:p>
        </p:txBody>
      </p:sp>
    </p:spTree>
    <p:extLst>
      <p:ext uri="{BB962C8B-B14F-4D97-AF65-F5344CB8AC3E}">
        <p14:creationId xmlns:p14="http://schemas.microsoft.com/office/powerpoint/2010/main" val="970920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700B4-AB20-597F-FF60-277E112F8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D6F39-8D53-A43D-F07C-6E1A54FFCC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04D09-454A-C71F-9BEF-E148478D3FCD}"/>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6EA2C6BE-857E-C731-BA04-0FF4DDB5E50D}"/>
              </a:ext>
            </a:extLst>
          </p:cNvPr>
          <p:cNvSpPr>
            <a:spLocks noGrp="1"/>
          </p:cNvSpPr>
          <p:nvPr>
            <p:ph type="sldNum" sz="quarter" idx="10"/>
          </p:nvPr>
        </p:nvSpPr>
        <p:spPr/>
        <p:txBody>
          <a:bodyPr/>
          <a:lstStyle/>
          <a:p>
            <a:fld id="{336D9429-67C4-4688-B497-2D10480057F2}" type="slidenum">
              <a:rPr lang="en-US" smtClean="0"/>
              <a:t>7</a:t>
            </a:fld>
            <a:endParaRPr lang="en-US" dirty="0"/>
          </a:p>
        </p:txBody>
      </p:sp>
    </p:spTree>
    <p:extLst>
      <p:ext uri="{BB962C8B-B14F-4D97-AF65-F5344CB8AC3E}">
        <p14:creationId xmlns:p14="http://schemas.microsoft.com/office/powerpoint/2010/main" val="163323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6B628-709F-A45E-C1C3-43C9A7D61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53981-852B-ECBA-E934-583D92746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D2D8C-4FD5-BB1B-71CA-A1E0B2198BC3}"/>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27080FB1-2E5C-257A-D10F-ECD4BCED2E50}"/>
              </a:ext>
            </a:extLst>
          </p:cNvPr>
          <p:cNvSpPr>
            <a:spLocks noGrp="1"/>
          </p:cNvSpPr>
          <p:nvPr>
            <p:ph type="sldNum" sz="quarter" idx="10"/>
          </p:nvPr>
        </p:nvSpPr>
        <p:spPr/>
        <p:txBody>
          <a:bodyPr/>
          <a:lstStyle/>
          <a:p>
            <a:fld id="{336D9429-67C4-4688-B497-2D10480057F2}" type="slidenum">
              <a:rPr lang="en-US" smtClean="0"/>
              <a:t>8</a:t>
            </a:fld>
            <a:endParaRPr lang="en-US" dirty="0"/>
          </a:p>
        </p:txBody>
      </p:sp>
    </p:spTree>
    <p:extLst>
      <p:ext uri="{BB962C8B-B14F-4D97-AF65-F5344CB8AC3E}">
        <p14:creationId xmlns:p14="http://schemas.microsoft.com/office/powerpoint/2010/main" val="519456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952B6-C0BD-1385-F9CC-C9FDB3F31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CF636-B55A-96CE-1141-070DD2584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E871A-D66F-60DF-574F-0EDE85F7FDED}"/>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360C44EB-CBD2-8D65-7A4F-60D42F1B6BE6}"/>
              </a:ext>
            </a:extLst>
          </p:cNvPr>
          <p:cNvSpPr>
            <a:spLocks noGrp="1"/>
          </p:cNvSpPr>
          <p:nvPr>
            <p:ph type="sldNum" sz="quarter" idx="10"/>
          </p:nvPr>
        </p:nvSpPr>
        <p:spPr/>
        <p:txBody>
          <a:bodyPr/>
          <a:lstStyle/>
          <a:p>
            <a:fld id="{336D9429-67C4-4688-B497-2D10480057F2}" type="slidenum">
              <a:rPr lang="en-US" smtClean="0"/>
              <a:t>9</a:t>
            </a:fld>
            <a:endParaRPr lang="en-US" dirty="0"/>
          </a:p>
        </p:txBody>
      </p:sp>
    </p:spTree>
    <p:extLst>
      <p:ext uri="{BB962C8B-B14F-4D97-AF65-F5344CB8AC3E}">
        <p14:creationId xmlns:p14="http://schemas.microsoft.com/office/powerpoint/2010/main" val="24859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5458D-0BC3-9F86-AC6A-946CBEC40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DBE7D-B93A-3E91-8DFC-EAE6BD39B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F5E4F-23AD-5844-F747-24501C416710}"/>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D4FE410C-5667-2A5C-95FE-03B5703FAC5D}"/>
              </a:ext>
            </a:extLst>
          </p:cNvPr>
          <p:cNvSpPr>
            <a:spLocks noGrp="1"/>
          </p:cNvSpPr>
          <p:nvPr>
            <p:ph type="sldNum" sz="quarter" idx="10"/>
          </p:nvPr>
        </p:nvSpPr>
        <p:spPr/>
        <p:txBody>
          <a:bodyPr/>
          <a:lstStyle/>
          <a:p>
            <a:fld id="{336D9429-67C4-4688-B497-2D10480057F2}" type="slidenum">
              <a:rPr lang="en-US" smtClean="0"/>
              <a:t>10</a:t>
            </a:fld>
            <a:endParaRPr lang="en-US" dirty="0"/>
          </a:p>
        </p:txBody>
      </p:sp>
    </p:spTree>
    <p:extLst>
      <p:ext uri="{BB962C8B-B14F-4D97-AF65-F5344CB8AC3E}">
        <p14:creationId xmlns:p14="http://schemas.microsoft.com/office/powerpoint/2010/main" val="4285540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D7E7F-6A0A-46BB-EC71-1519E322E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A9DBE-47CD-3508-B36B-34EA8982C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20EAC-66EF-6E77-7C69-4466F441E394}"/>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9B6DAD7D-3D2E-3612-F5DE-FEE32507D32D}"/>
              </a:ext>
            </a:extLst>
          </p:cNvPr>
          <p:cNvSpPr>
            <a:spLocks noGrp="1"/>
          </p:cNvSpPr>
          <p:nvPr>
            <p:ph type="sldNum" sz="quarter" idx="10"/>
          </p:nvPr>
        </p:nvSpPr>
        <p:spPr/>
        <p:txBody>
          <a:bodyPr/>
          <a:lstStyle/>
          <a:p>
            <a:fld id="{336D9429-67C4-4688-B497-2D10480057F2}" type="slidenum">
              <a:rPr lang="en-US" smtClean="0"/>
              <a:t>11</a:t>
            </a:fld>
            <a:endParaRPr lang="en-US" dirty="0"/>
          </a:p>
        </p:txBody>
      </p:sp>
    </p:spTree>
    <p:extLst>
      <p:ext uri="{BB962C8B-B14F-4D97-AF65-F5344CB8AC3E}">
        <p14:creationId xmlns:p14="http://schemas.microsoft.com/office/powerpoint/2010/main" val="3873815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465E1-F377-5925-47E5-65711F46F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D729E-EC5C-5DBE-C0DD-7D8CCEC34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64510-87AB-DB38-4DAC-3AC03D80F7C2}"/>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54FBDDF2-9338-9D02-75BE-863BC5D90F0D}"/>
              </a:ext>
            </a:extLst>
          </p:cNvPr>
          <p:cNvSpPr>
            <a:spLocks noGrp="1"/>
          </p:cNvSpPr>
          <p:nvPr>
            <p:ph type="sldNum" sz="quarter" idx="10"/>
          </p:nvPr>
        </p:nvSpPr>
        <p:spPr/>
        <p:txBody>
          <a:bodyPr/>
          <a:lstStyle/>
          <a:p>
            <a:fld id="{336D9429-67C4-4688-B497-2D10480057F2}" type="slidenum">
              <a:rPr lang="en-US" smtClean="0"/>
              <a:t>12</a:t>
            </a:fld>
            <a:endParaRPr lang="en-US" dirty="0"/>
          </a:p>
        </p:txBody>
      </p:sp>
    </p:spTree>
    <p:extLst>
      <p:ext uri="{BB962C8B-B14F-4D97-AF65-F5344CB8AC3E}">
        <p14:creationId xmlns:p14="http://schemas.microsoft.com/office/powerpoint/2010/main" val="2570537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E16BC-F24A-0580-215F-0A6E0E249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7C1FD-BF31-071F-932E-D90E250B7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418F43-998C-3D4D-CCBB-D905EB44CA97}"/>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49F887BB-1ADD-E1AE-7B73-875F1297D455}"/>
              </a:ext>
            </a:extLst>
          </p:cNvPr>
          <p:cNvSpPr>
            <a:spLocks noGrp="1"/>
          </p:cNvSpPr>
          <p:nvPr>
            <p:ph type="sldNum" sz="quarter" idx="10"/>
          </p:nvPr>
        </p:nvSpPr>
        <p:spPr/>
        <p:txBody>
          <a:bodyPr/>
          <a:lstStyle/>
          <a:p>
            <a:fld id="{336D9429-67C4-4688-B497-2D10480057F2}" type="slidenum">
              <a:rPr lang="en-US" smtClean="0"/>
              <a:t>13</a:t>
            </a:fld>
            <a:endParaRPr lang="en-US" dirty="0"/>
          </a:p>
        </p:txBody>
      </p:sp>
    </p:spTree>
    <p:extLst>
      <p:ext uri="{BB962C8B-B14F-4D97-AF65-F5344CB8AC3E}">
        <p14:creationId xmlns:p14="http://schemas.microsoft.com/office/powerpoint/2010/main" val="2154760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971A-E329-E337-C036-AE66EA35C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8DE9D-DF5D-79F8-91A2-2091FAE321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0D204-7EFE-F663-F4E2-A009230338EB}"/>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8AD43784-BAE0-A921-BCBC-E76EE9E0D89C}"/>
              </a:ext>
            </a:extLst>
          </p:cNvPr>
          <p:cNvSpPr>
            <a:spLocks noGrp="1"/>
          </p:cNvSpPr>
          <p:nvPr>
            <p:ph type="sldNum" sz="quarter" idx="10"/>
          </p:nvPr>
        </p:nvSpPr>
        <p:spPr/>
        <p:txBody>
          <a:bodyPr/>
          <a:lstStyle/>
          <a:p>
            <a:fld id="{336D9429-67C4-4688-B497-2D10480057F2}" type="slidenum">
              <a:rPr lang="en-US" smtClean="0"/>
              <a:t>14</a:t>
            </a:fld>
            <a:endParaRPr lang="en-US" dirty="0"/>
          </a:p>
        </p:txBody>
      </p:sp>
    </p:spTree>
    <p:extLst>
      <p:ext uri="{BB962C8B-B14F-4D97-AF65-F5344CB8AC3E}">
        <p14:creationId xmlns:p14="http://schemas.microsoft.com/office/powerpoint/2010/main" val="373928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ACB5-98A1-CF9D-70AB-AB680E64F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50648-9C9E-CE32-6650-3363E428B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66437-8BD5-A5D0-3B73-762BAEE0C433}"/>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F5E462ED-AFDF-563F-2C18-685F93DDD483}"/>
              </a:ext>
            </a:extLst>
          </p:cNvPr>
          <p:cNvSpPr>
            <a:spLocks noGrp="1"/>
          </p:cNvSpPr>
          <p:nvPr>
            <p:ph type="sldNum" sz="quarter" idx="10"/>
          </p:nvPr>
        </p:nvSpPr>
        <p:spPr/>
        <p:txBody>
          <a:bodyPr/>
          <a:lstStyle/>
          <a:p>
            <a:fld id="{336D9429-67C4-4688-B497-2D10480057F2}" type="slidenum">
              <a:rPr lang="en-US" smtClean="0"/>
              <a:t>15</a:t>
            </a:fld>
            <a:endParaRPr lang="en-US" dirty="0"/>
          </a:p>
        </p:txBody>
      </p:sp>
    </p:spTree>
    <p:extLst>
      <p:ext uri="{BB962C8B-B14F-4D97-AF65-F5344CB8AC3E}">
        <p14:creationId xmlns:p14="http://schemas.microsoft.com/office/powerpoint/2010/main" val="638181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C2F78-FFBD-B8FA-60C5-31E421493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CBFAC-3AD3-7D9A-5480-6C661C5CE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0D926-473A-F5B0-8713-39AF810DB6E1}"/>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450BCD57-A48C-ABF0-378F-B56B22FD5BFF}"/>
              </a:ext>
            </a:extLst>
          </p:cNvPr>
          <p:cNvSpPr>
            <a:spLocks noGrp="1"/>
          </p:cNvSpPr>
          <p:nvPr>
            <p:ph type="sldNum" sz="quarter" idx="10"/>
          </p:nvPr>
        </p:nvSpPr>
        <p:spPr/>
        <p:txBody>
          <a:bodyPr/>
          <a:lstStyle/>
          <a:p>
            <a:fld id="{336D9429-67C4-4688-B497-2D10480057F2}" type="slidenum">
              <a:rPr lang="en-US" smtClean="0"/>
              <a:t>16</a:t>
            </a:fld>
            <a:endParaRPr lang="en-US" dirty="0"/>
          </a:p>
        </p:txBody>
      </p:sp>
    </p:spTree>
    <p:extLst>
      <p:ext uri="{BB962C8B-B14F-4D97-AF65-F5344CB8AC3E}">
        <p14:creationId xmlns:p14="http://schemas.microsoft.com/office/powerpoint/2010/main" val="315646337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3AA43A8-9C57-42ED-AFE4-B30FF91A6411}" type="datetime1">
              <a:rPr lang="en-US" smtClean="0"/>
              <a:t>10/31/2025</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74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6CF1B85-0355-48E9-B306-F864651DACFE}"/>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1922798"/>
            <a:ext cx="10515600" cy="4254165"/>
          </a:xfrm>
        </p:spPr>
        <p:txBody>
          <a:bodyPr/>
          <a:lstStyle>
            <a:lvl1pPr>
              <a:defRPr sz="1600">
                <a:latin typeface="+mj-lt"/>
              </a:defRPr>
            </a:lvl1pPr>
            <a:lvl2pPr>
              <a:defRPr sz="1400">
                <a:latin typeface="+mj-lt"/>
              </a:defRPr>
            </a:lvl2pPr>
            <a:lvl3pPr>
              <a:defRPr sz="1200">
                <a:latin typeface="+mj-lt"/>
              </a:defRPr>
            </a:lvl3pPr>
            <a:lvl4pPr>
              <a:defRPr sz="1100">
                <a:latin typeface="+mj-lt"/>
              </a:defRPr>
            </a:lvl4pPr>
            <a:lvl5pPr>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endParaRPr lang="en-US" dirty="0"/>
          </a:p>
        </p:txBody>
      </p:sp>
      <p:sp>
        <p:nvSpPr>
          <p:cNvPr id="27" name="Shape 61">
            <a:extLst>
              <a:ext uri="{FF2B5EF4-FFF2-40B4-BE49-F238E27FC236}">
                <a16:creationId xmlns:a16="http://schemas.microsoft.com/office/drawing/2014/main" id="{13E82DCB-0215-47C1-B2C7-C6D824B426A3}"/>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420544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47685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4267519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ig Photo">
    <p:spTree>
      <p:nvGrpSpPr>
        <p:cNvPr id="1" name=""/>
        <p:cNvGrpSpPr/>
        <p:nvPr/>
      </p:nvGrpSpPr>
      <p:grpSpPr>
        <a:xfrm>
          <a:off x="0" y="0"/>
          <a:ext cx="0" cy="0"/>
          <a:chOff x="0" y="0"/>
          <a:chExt cx="0" cy="0"/>
        </a:xfrm>
      </p:grpSpPr>
      <p:pic>
        <p:nvPicPr>
          <p:cNvPr id="22" name="Picture 2" descr="Image result for paper texture">
            <a:extLst>
              <a:ext uri="{FF2B5EF4-FFF2-40B4-BE49-F238E27FC236}">
                <a16:creationId xmlns:a16="http://schemas.microsoft.com/office/drawing/2014/main" id="{4BBF12C1-6008-464E-A434-4F253BBD1B6E}"/>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9" name="Picture Placeholder 18">
            <a:extLst>
              <a:ext uri="{FF2B5EF4-FFF2-40B4-BE49-F238E27FC236}">
                <a16:creationId xmlns:a16="http://schemas.microsoft.com/office/drawing/2014/main" id="{1004D5EE-A5F6-47AB-8127-45F8768A2598}"/>
              </a:ext>
            </a:extLst>
          </p:cNvPr>
          <p:cNvSpPr>
            <a:spLocks noGrp="1"/>
          </p:cNvSpPr>
          <p:nvPr>
            <p:ph type="pic" sz="quarter" idx="10" hasCustomPrompt="1"/>
          </p:nvPr>
        </p:nvSpPr>
        <p:spPr>
          <a:xfrm>
            <a:off x="0" y="32238"/>
            <a:ext cx="12192000" cy="6793525"/>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2" name="Title 1">
            <a:extLst>
              <a:ext uri="{FF2B5EF4-FFF2-40B4-BE49-F238E27FC236}">
                <a16:creationId xmlns:a16="http://schemas.microsoft.com/office/drawing/2014/main" id="{E61E5EAA-53FA-4411-85DC-CB828CAA94A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74317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3AA43A8-9C57-42ED-AFE4-B30FF91A6411}" type="datetime1">
              <a:rPr lang="en-US" smtClean="0"/>
              <a:t>10/31/2025</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4"/>
          <a:stretch>
            <a:fillRect/>
          </a:stretch>
        </p:blipFill>
        <p:spPr>
          <a:xfrm>
            <a:off x="0" y="0"/>
            <a:ext cx="5913121" cy="6858000"/>
          </a:xfrm>
          <a:prstGeom prst="rect">
            <a:avLst/>
          </a:prstGeom>
        </p:spPr>
      </p:pic>
    </p:spTree>
    <p:extLst>
      <p:ext uri="{BB962C8B-B14F-4D97-AF65-F5344CB8AC3E}">
        <p14:creationId xmlns:p14="http://schemas.microsoft.com/office/powerpoint/2010/main" val="1116712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054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07376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065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83761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9520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3" cstate="screen">
            <a:extLst>
              <a:ext uri="{BEBA8EAE-BF5A-486C-A8C5-ECC9F3942E4B}">
                <a14:imgProps xmlns:a14="http://schemas.microsoft.com/office/drawing/2010/main">
                  <a14:imgLayer r:embed="rId14">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429768"/>
            <a:ext cx="10515600" cy="63719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301262"/>
            <a:ext cx="10515600" cy="48757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11" name="Shape 61">
            <a:extLst>
              <a:ext uri="{FF2B5EF4-FFF2-40B4-BE49-F238E27FC236}">
                <a16:creationId xmlns:a16="http://schemas.microsoft.com/office/drawing/2014/main" id="{4C6CEA86-90A4-4284-86BF-23E5E6F4A73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777134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7" r:id="rId4"/>
    <p:sldLayoutId id="2147483670" r:id="rId5"/>
    <p:sldLayoutId id="2147483672" r:id="rId6"/>
    <p:sldLayoutId id="2147483673" r:id="rId7"/>
    <p:sldLayoutId id="2147483653" r:id="rId8"/>
    <p:sldLayoutId id="2147483671" r:id="rId9"/>
    <p:sldLayoutId id="2147483654" r:id="rId10"/>
    <p:sldLayoutId id="2147483655" r:id="rId11"/>
  </p:sldLayoutIdLst>
  <p:hf hdr="0" ftr="0" dt="0"/>
  <p:txStyles>
    <p:title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2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hyperlink" Target="https://freepngimg.com/png/34138-idea-bulb-transparent"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open.canada.ca/data/en/dataset/7c1bf2a8-96bb-4ad5-888d-a90672eb306e/resource/896facf1-f379-413d-bcc7-b90259f329be" TargetMode="External"/><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hyperlink" Target="https://www2.gov.bc.ca/assets/gov/data/statistics/people-population-community/population/pop_municipal_subprov_areas.xlsx" TargetMode="External"/><Relationship Id="rId10" Type="http://schemas.openxmlformats.org/officeDocument/2006/relationships/image" Target="../media/image16.png"/><Relationship Id="rId4" Type="http://schemas.openxmlformats.org/officeDocument/2006/relationships/hyperlink" Target="https://www2.gov.bc.ca/assets/gov/data/statistics/people-population-community/population/pop_municipal_subprov_areas_2001_2011.xlsx" TargetMode="External"/><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2.jpg"/><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yellow circle with black text and lightning bolt&#10;&#10;AI-generated content may be incorrect.">
            <a:extLst>
              <a:ext uri="{FF2B5EF4-FFF2-40B4-BE49-F238E27FC236}">
                <a16:creationId xmlns:a16="http://schemas.microsoft.com/office/drawing/2014/main" id="{6F261AB6-DE45-2FD9-1870-FA5618A81A21}"/>
              </a:ext>
            </a:extLst>
          </p:cNvPr>
          <p:cNvPicPr>
            <a:picLocks noChangeAspect="1"/>
          </p:cNvPicPr>
          <p:nvPr/>
        </p:nvPicPr>
        <p:blipFill>
          <a:blip r:embed="rId2"/>
          <a:stretch>
            <a:fillRect/>
          </a:stretch>
        </p:blipFill>
        <p:spPr>
          <a:xfrm>
            <a:off x="5420151" y="3038770"/>
            <a:ext cx="898622" cy="898622"/>
          </a:xfrm>
          <a:prstGeom prst="rect">
            <a:avLst/>
          </a:prstGeom>
        </p:spPr>
      </p:pic>
      <p:sp>
        <p:nvSpPr>
          <p:cNvPr id="4" name="Title 3">
            <a:extLst>
              <a:ext uri="{FF2B5EF4-FFF2-40B4-BE49-F238E27FC236}">
                <a16:creationId xmlns:a16="http://schemas.microsoft.com/office/drawing/2014/main" id="{BD19851F-4305-4854-B51C-49F1E47FE452}"/>
              </a:ext>
            </a:extLst>
          </p:cNvPr>
          <p:cNvSpPr>
            <a:spLocks noGrp="1"/>
          </p:cNvSpPr>
          <p:nvPr>
            <p:ph type="title"/>
          </p:nvPr>
        </p:nvSpPr>
        <p:spPr>
          <a:xfrm>
            <a:off x="4714405" y="1453877"/>
            <a:ext cx="8497455" cy="1355889"/>
          </a:xfrm>
        </p:spPr>
        <p:txBody>
          <a:bodyPr anchor="b">
            <a:normAutofit/>
          </a:bodyPr>
          <a:lstStyle/>
          <a:p>
            <a:r>
              <a:rPr lang="en-US" sz="5400" dirty="0"/>
              <a:t>BC Surgical Wait Times</a:t>
            </a:r>
          </a:p>
        </p:txBody>
      </p:sp>
      <p:sp>
        <p:nvSpPr>
          <p:cNvPr id="19" name="Text Placeholder 2">
            <a:extLst>
              <a:ext uri="{FF2B5EF4-FFF2-40B4-BE49-F238E27FC236}">
                <a16:creationId xmlns:a16="http://schemas.microsoft.com/office/drawing/2014/main" id="{75CBA98D-8621-20ED-7CC7-C7D710DB63E0}"/>
              </a:ext>
            </a:extLst>
          </p:cNvPr>
          <p:cNvSpPr>
            <a:spLocks noGrp="1"/>
          </p:cNvSpPr>
          <p:nvPr>
            <p:ph type="body" idx="1"/>
          </p:nvPr>
        </p:nvSpPr>
        <p:spPr>
          <a:xfrm>
            <a:off x="6253066" y="3216242"/>
            <a:ext cx="5995209" cy="636038"/>
          </a:xfrm>
        </p:spPr>
        <p:txBody>
          <a:bodyPr>
            <a:normAutofit fontScale="92500"/>
          </a:bodyPr>
          <a:lstStyle/>
          <a:p>
            <a:r>
              <a:rPr lang="en-US" dirty="0">
                <a:latin typeface="Aharoni" panose="020F0502020204030204" pitchFamily="2" charset="-79"/>
                <a:cs typeface="Aharoni" panose="020F0502020204030204" pitchFamily="2" charset="-79"/>
              </a:rPr>
              <a:t>M2M Tech | DataTalent | Capstone Project - 1</a:t>
            </a:r>
          </a:p>
        </p:txBody>
      </p:sp>
      <p:pic>
        <p:nvPicPr>
          <p:cNvPr id="24" name="Picture 23" descr="A row of gray and blue figures&#10;&#10;AI-generated content may be incorrect.">
            <a:extLst>
              <a:ext uri="{FF2B5EF4-FFF2-40B4-BE49-F238E27FC236}">
                <a16:creationId xmlns:a16="http://schemas.microsoft.com/office/drawing/2014/main" id="{AE0FCEF7-92AD-2E65-B58F-F2D5C7396355}"/>
              </a:ext>
            </a:extLst>
          </p:cNvPr>
          <p:cNvPicPr>
            <a:picLocks noChangeAspect="1"/>
          </p:cNvPicPr>
          <p:nvPr/>
        </p:nvPicPr>
        <p:blipFill>
          <a:blip r:embed="rId3">
            <a:alphaModFix amt="72000"/>
          </a:blip>
          <a:stretch>
            <a:fillRect/>
          </a:stretch>
        </p:blipFill>
        <p:spPr>
          <a:xfrm flipH="1">
            <a:off x="9705382" y="5301270"/>
            <a:ext cx="2661207" cy="1939232"/>
          </a:xfrm>
          <a:prstGeom prst="rect">
            <a:avLst/>
          </a:prstGeom>
        </p:spPr>
      </p:pic>
      <p:pic>
        <p:nvPicPr>
          <p:cNvPr id="26" name="Graphic 25" descr="Alarm clock with solid fill">
            <a:extLst>
              <a:ext uri="{FF2B5EF4-FFF2-40B4-BE49-F238E27FC236}">
                <a16:creationId xmlns:a16="http://schemas.microsoft.com/office/drawing/2014/main" id="{DAFF863A-8F1C-C2CB-B59F-B222C92F76E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762509" y="6428509"/>
            <a:ext cx="429491" cy="429491"/>
          </a:xfrm>
          <a:prstGeom prst="rect">
            <a:avLst/>
          </a:prstGeom>
        </p:spPr>
      </p:pic>
      <p:pic>
        <p:nvPicPr>
          <p:cNvPr id="36" name="Picture 35" descr="A person running on a graph&#10;&#10;AI-generated content may be incorrect.">
            <a:extLst>
              <a:ext uri="{FF2B5EF4-FFF2-40B4-BE49-F238E27FC236}">
                <a16:creationId xmlns:a16="http://schemas.microsoft.com/office/drawing/2014/main" id="{02579A37-58DA-8054-3BF2-BADAD41F19F7}"/>
              </a:ext>
            </a:extLst>
          </p:cNvPr>
          <p:cNvPicPr>
            <a:picLocks noChangeAspect="1"/>
          </p:cNvPicPr>
          <p:nvPr/>
        </p:nvPicPr>
        <p:blipFill>
          <a:blip r:embed="rId6">
            <a:alphaModFix amt="20000"/>
          </a:blip>
          <a:stretch>
            <a:fillRect/>
          </a:stretch>
        </p:blipFill>
        <p:spPr>
          <a:xfrm>
            <a:off x="10199139" y="-160246"/>
            <a:ext cx="1967344" cy="1967344"/>
          </a:xfrm>
          <a:prstGeom prst="rect">
            <a:avLst/>
          </a:prstGeom>
          <a:effectLst>
            <a:reflection stA="88000" endPos="25000" dist="50800" dir="5400000" sy="-100000" algn="bl" rotWithShape="0"/>
          </a:effectLst>
        </p:spPr>
      </p:pic>
      <p:sp>
        <p:nvSpPr>
          <p:cNvPr id="39" name="TextBox 38">
            <a:extLst>
              <a:ext uri="{FF2B5EF4-FFF2-40B4-BE49-F238E27FC236}">
                <a16:creationId xmlns:a16="http://schemas.microsoft.com/office/drawing/2014/main" id="{EBF8BD21-DA89-46AF-3955-1E53DE7D5C49}"/>
              </a:ext>
            </a:extLst>
          </p:cNvPr>
          <p:cNvSpPr txBox="1"/>
          <p:nvPr/>
        </p:nvSpPr>
        <p:spPr>
          <a:xfrm>
            <a:off x="7809073" y="2636389"/>
            <a:ext cx="4780132" cy="369332"/>
          </a:xfrm>
          <a:prstGeom prst="rect">
            <a:avLst/>
          </a:prstGeom>
          <a:noFill/>
        </p:spPr>
        <p:txBody>
          <a:bodyPr wrap="square" rtlCol="0">
            <a:spAutoFit/>
          </a:bodyPr>
          <a:lstStyle/>
          <a:p>
            <a:r>
              <a:rPr lang="en-US" dirty="0"/>
              <a:t>A Data-Driven Analysis of Surgical Wait Times</a:t>
            </a:r>
            <a:endParaRPr lang="en-IN" dirty="0"/>
          </a:p>
        </p:txBody>
      </p:sp>
      <p:sp>
        <p:nvSpPr>
          <p:cNvPr id="40" name="TextBox 39">
            <a:extLst>
              <a:ext uri="{FF2B5EF4-FFF2-40B4-BE49-F238E27FC236}">
                <a16:creationId xmlns:a16="http://schemas.microsoft.com/office/drawing/2014/main" id="{9F7FB12D-D7F9-CEB3-F8C6-8EA69BB70B64}"/>
              </a:ext>
            </a:extLst>
          </p:cNvPr>
          <p:cNvSpPr txBox="1"/>
          <p:nvPr/>
        </p:nvSpPr>
        <p:spPr>
          <a:xfrm>
            <a:off x="6573066" y="3797091"/>
            <a:ext cx="4780132" cy="923330"/>
          </a:xfrm>
          <a:prstGeom prst="rect">
            <a:avLst/>
          </a:prstGeom>
          <a:noFill/>
        </p:spPr>
        <p:txBody>
          <a:bodyPr wrap="square" rtlCol="0">
            <a:spAutoFit/>
          </a:bodyPr>
          <a:lstStyle/>
          <a:p>
            <a:pPr algn="ctr"/>
            <a:endParaRPr lang="en-US" dirty="0"/>
          </a:p>
          <a:p>
            <a:pPr algn="ctr"/>
            <a:r>
              <a:rPr lang="en-US" dirty="0" err="1"/>
              <a:t>Muthukannan</a:t>
            </a:r>
            <a:r>
              <a:rPr lang="en-US" dirty="0"/>
              <a:t> </a:t>
            </a:r>
            <a:r>
              <a:rPr lang="en-US" dirty="0" err="1"/>
              <a:t>Gomathisamynathan</a:t>
            </a:r>
            <a:endParaRPr lang="en-US" dirty="0"/>
          </a:p>
          <a:p>
            <a:endParaRPr lang="en-IN" dirty="0"/>
          </a:p>
        </p:txBody>
      </p:sp>
      <p:pic>
        <p:nvPicPr>
          <p:cNvPr id="42" name="Picture 41" descr="A map of canada with different colored squares">
            <a:extLst>
              <a:ext uri="{FF2B5EF4-FFF2-40B4-BE49-F238E27FC236}">
                <a16:creationId xmlns:a16="http://schemas.microsoft.com/office/drawing/2014/main" id="{F7A47924-BB74-61FA-3C4B-F77ACB2D8937}"/>
              </a:ext>
            </a:extLst>
          </p:cNvPr>
          <p:cNvPicPr>
            <a:picLocks noChangeAspect="1"/>
          </p:cNvPicPr>
          <p:nvPr/>
        </p:nvPicPr>
        <p:blipFill>
          <a:blip r:embed="rId7"/>
          <a:stretch>
            <a:fillRect/>
          </a:stretch>
        </p:blipFill>
        <p:spPr>
          <a:xfrm>
            <a:off x="-273919" y="56057"/>
            <a:ext cx="7187915" cy="6437746"/>
          </a:xfrm>
          <a:prstGeom prst="rect">
            <a:avLst/>
          </a:prstGeom>
        </p:spPr>
      </p:pic>
    </p:spTree>
    <p:extLst>
      <p:ext uri="{BB962C8B-B14F-4D97-AF65-F5344CB8AC3E}">
        <p14:creationId xmlns:p14="http://schemas.microsoft.com/office/powerpoint/2010/main" val="517853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96D4B-5BE2-C328-DCD9-FC2D6F0D4816}"/>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60ED969D-00B9-0667-76EF-0D6539DAD0CD}"/>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0B1F2B6E-CD1B-36BB-3ED1-9D8D9E79B51E}"/>
              </a:ext>
            </a:extLst>
          </p:cNvPr>
          <p:cNvSpPr txBox="1">
            <a:spLocks/>
          </p:cNvSpPr>
          <p:nvPr/>
        </p:nvSpPr>
        <p:spPr>
          <a:xfrm>
            <a:off x="662709" y="400825"/>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US"/>
              <a:t>Table of content</a:t>
            </a:r>
            <a:endParaRPr lang="en-US" dirty="0"/>
          </a:p>
        </p:txBody>
      </p:sp>
      <p:sp>
        <p:nvSpPr>
          <p:cNvPr id="4" name="TextBox 3">
            <a:extLst>
              <a:ext uri="{FF2B5EF4-FFF2-40B4-BE49-F238E27FC236}">
                <a16:creationId xmlns:a16="http://schemas.microsoft.com/office/drawing/2014/main" id="{4C2DA66A-0938-73C2-6149-CE16512AA467}"/>
              </a:ext>
            </a:extLst>
          </p:cNvPr>
          <p:cNvSpPr txBox="1"/>
          <p:nvPr/>
        </p:nvSpPr>
        <p:spPr>
          <a:xfrm>
            <a:off x="760659" y="1981349"/>
            <a:ext cx="6206836" cy="2031325"/>
          </a:xfrm>
          <a:prstGeom prst="rect">
            <a:avLst/>
          </a:prstGeom>
          <a:noFill/>
        </p:spPr>
        <p:txBody>
          <a:bodyPr wrap="square" rtlCol="0">
            <a:spAutoFit/>
          </a:bodyPr>
          <a:lstStyle/>
          <a:p>
            <a:pPr marL="285750" indent="-285750">
              <a:buFont typeface="Arial" panose="020B0604020202020204" pitchFamily="34" charset="0"/>
              <a:buChar char="•"/>
            </a:pPr>
            <a:r>
              <a:rPr lang="en-IN" dirty="0"/>
              <a:t>Idea and Purpose</a:t>
            </a:r>
          </a:p>
          <a:p>
            <a:pPr marL="285750" indent="-285750">
              <a:buFont typeface="Arial" panose="020B0604020202020204" pitchFamily="34" charset="0"/>
              <a:buChar char="•"/>
            </a:pPr>
            <a:r>
              <a:rPr lang="en-IN" dirty="0"/>
              <a:t>Data Acquisition &amp; Tools</a:t>
            </a:r>
          </a:p>
          <a:p>
            <a:pPr marL="285750" indent="-285750">
              <a:buFont typeface="Arial" panose="020B0604020202020204" pitchFamily="34" charset="0"/>
              <a:buChar char="•"/>
            </a:pPr>
            <a:r>
              <a:rPr lang="en-IN" dirty="0"/>
              <a:t>Data Preparation</a:t>
            </a:r>
          </a:p>
          <a:p>
            <a:pPr marL="285750" indent="-285750">
              <a:buFont typeface="Arial" panose="020B0604020202020204" pitchFamily="34" charset="0"/>
              <a:buChar char="•"/>
            </a:pPr>
            <a:r>
              <a:rPr lang="en-IN" dirty="0"/>
              <a:t>EDA &amp; Data Analysis</a:t>
            </a:r>
          </a:p>
          <a:p>
            <a:pPr marL="285750" indent="-285750">
              <a:buFont typeface="Arial" panose="020B0604020202020204" pitchFamily="34" charset="0"/>
              <a:buChar char="•"/>
            </a:pPr>
            <a:r>
              <a:rPr lang="en-IN" dirty="0"/>
              <a:t>Insights</a:t>
            </a:r>
          </a:p>
          <a:p>
            <a:pPr marL="285750" indent="-285750">
              <a:buFont typeface="Arial" panose="020B0604020202020204" pitchFamily="34" charset="0"/>
              <a:buChar char="•"/>
            </a:pPr>
            <a:r>
              <a:rPr lang="en-IN" dirty="0"/>
              <a:t>Conclusion &amp; Future Plan</a:t>
            </a:r>
          </a:p>
          <a:p>
            <a:pPr marL="285750" indent="-285750">
              <a:buFont typeface="Arial" panose="020B0604020202020204" pitchFamily="34" charset="0"/>
              <a:buChar char="•"/>
            </a:pPr>
            <a:endParaRPr lang="en-IN" dirty="0"/>
          </a:p>
        </p:txBody>
      </p:sp>
      <p:pic>
        <p:nvPicPr>
          <p:cNvPr id="8" name="Picture 7" descr="A blue and black map&#10;&#10;AI-generated content may be incorrect.">
            <a:extLst>
              <a:ext uri="{FF2B5EF4-FFF2-40B4-BE49-F238E27FC236}">
                <a16:creationId xmlns:a16="http://schemas.microsoft.com/office/drawing/2014/main" id="{C7BA2C46-B0C6-6E04-2A1F-D50B8EB967EB}"/>
              </a:ext>
            </a:extLst>
          </p:cNvPr>
          <p:cNvPicPr>
            <a:picLocks noChangeAspect="1"/>
          </p:cNvPicPr>
          <p:nvPr/>
        </p:nvPicPr>
        <p:blipFill>
          <a:blip r:embed="rId3">
            <a:alphaModFix amt="58000"/>
          </a:blip>
          <a:stretch>
            <a:fillRect/>
          </a:stretch>
        </p:blipFill>
        <p:spPr>
          <a:xfrm>
            <a:off x="5133557" y="876369"/>
            <a:ext cx="6643038" cy="5314431"/>
          </a:xfrm>
          <a:prstGeom prst="rect">
            <a:avLst/>
          </a:prstGeom>
          <a:noFill/>
          <a:effectLst>
            <a:outerShdw blurRad="292100" dist="50800" dir="5400000" algn="ctr" rotWithShape="0">
              <a:srgbClr val="000000">
                <a:alpha val="82000"/>
              </a:srgbClr>
            </a:outerShdw>
          </a:effectLst>
        </p:spPr>
      </p:pic>
    </p:spTree>
    <p:extLst>
      <p:ext uri="{BB962C8B-B14F-4D97-AF65-F5344CB8AC3E}">
        <p14:creationId xmlns:p14="http://schemas.microsoft.com/office/powerpoint/2010/main" val="1182612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14FDE-D0DD-73D7-D2E7-4FC5C840ED77}"/>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2E5979AD-6F6D-3C66-0999-4F49B7953B13}"/>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352ABA75-259A-B651-04A9-FC9062BB9C93}"/>
              </a:ext>
            </a:extLst>
          </p:cNvPr>
          <p:cNvSpPr txBox="1">
            <a:spLocks/>
          </p:cNvSpPr>
          <p:nvPr/>
        </p:nvSpPr>
        <p:spPr>
          <a:xfrm>
            <a:off x="662709" y="400825"/>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Idea and Purpose</a:t>
            </a:r>
          </a:p>
        </p:txBody>
      </p:sp>
      <p:sp>
        <p:nvSpPr>
          <p:cNvPr id="4" name="TextBox 3">
            <a:extLst>
              <a:ext uri="{FF2B5EF4-FFF2-40B4-BE49-F238E27FC236}">
                <a16:creationId xmlns:a16="http://schemas.microsoft.com/office/drawing/2014/main" id="{F562E6BE-5B1B-502C-56AF-463496AD83AA}"/>
              </a:ext>
            </a:extLst>
          </p:cNvPr>
          <p:cNvSpPr txBox="1"/>
          <p:nvPr/>
        </p:nvSpPr>
        <p:spPr>
          <a:xfrm>
            <a:off x="858981" y="1293091"/>
            <a:ext cx="10133483" cy="4801314"/>
          </a:xfrm>
          <a:prstGeom prst="rect">
            <a:avLst/>
          </a:prstGeom>
          <a:noFill/>
        </p:spPr>
        <p:txBody>
          <a:bodyPr wrap="square" rtlCol="0">
            <a:spAutoFit/>
          </a:bodyPr>
          <a:lstStyle/>
          <a:p>
            <a:r>
              <a:rPr lang="en-IN" dirty="0"/>
              <a:t>Canadian HealthCare is one of the best in the world. Yet the common complaint regarding the higher wait times is often discussed in Social Media. </a:t>
            </a:r>
          </a:p>
          <a:p>
            <a:endParaRPr lang="en-IN" dirty="0"/>
          </a:p>
          <a:p>
            <a:r>
              <a:rPr lang="en-IN" dirty="0"/>
              <a:t>Parallelly, one of the tik-</a:t>
            </a:r>
            <a:r>
              <a:rPr lang="en-IN" dirty="0" err="1"/>
              <a:t>tokers</a:t>
            </a:r>
            <a:r>
              <a:rPr lang="en-IN" dirty="0"/>
              <a:t> made a video saying the population growth is the main reason and many seconded it.  </a:t>
            </a:r>
          </a:p>
          <a:p>
            <a:endParaRPr lang="en-IN" dirty="0"/>
          </a:p>
          <a:p>
            <a:r>
              <a:rPr lang="en-IN" dirty="0"/>
              <a:t>So, the pragmatic way of validating is analysing the data. To start with, I choose my home Province British Columbia as ground with few questions.</a:t>
            </a:r>
          </a:p>
          <a:p>
            <a:endParaRPr lang="en-IN" dirty="0"/>
          </a:p>
          <a:p>
            <a:r>
              <a:rPr lang="en-IN" dirty="0"/>
              <a:t>Is the Population growth really impacting the Wait times?</a:t>
            </a:r>
          </a:p>
          <a:p>
            <a:endParaRPr lang="en-IN" dirty="0"/>
          </a:p>
          <a:p>
            <a:r>
              <a:rPr lang="en-IN" dirty="0"/>
              <a:t>Which City is handling the wait times better? </a:t>
            </a:r>
          </a:p>
          <a:p>
            <a:endParaRPr lang="en-IN" dirty="0"/>
          </a:p>
          <a:p>
            <a:r>
              <a:rPr lang="en-IN" dirty="0"/>
              <a:t>Which Health Authority is the managing better so that others can use their methods?</a:t>
            </a:r>
          </a:p>
          <a:p>
            <a:endParaRPr lang="en-IN" dirty="0"/>
          </a:p>
          <a:p>
            <a:r>
              <a:rPr lang="en-IN" dirty="0"/>
              <a:t>Can we predict the wait times to plan early on building the infrastructure?</a:t>
            </a:r>
          </a:p>
          <a:p>
            <a:endParaRPr lang="en-IN" dirty="0"/>
          </a:p>
        </p:txBody>
      </p:sp>
      <p:pic>
        <p:nvPicPr>
          <p:cNvPr id="6" name="Picture 5" descr="A yellow light bulb with a black background&#10;&#10;AI-generated content may be incorrect.">
            <a:extLst>
              <a:ext uri="{FF2B5EF4-FFF2-40B4-BE49-F238E27FC236}">
                <a16:creationId xmlns:a16="http://schemas.microsoft.com/office/drawing/2014/main" id="{DCB83AD5-4BBA-5DA2-5911-8871193A78C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402090" y="3693748"/>
            <a:ext cx="2493819" cy="2948772"/>
          </a:xfrm>
          <a:prstGeom prst="rect">
            <a:avLst/>
          </a:prstGeom>
        </p:spPr>
      </p:pic>
      <p:pic>
        <p:nvPicPr>
          <p:cNvPr id="5" name="Picture 4" descr="A blue and black map">
            <a:extLst>
              <a:ext uri="{FF2B5EF4-FFF2-40B4-BE49-F238E27FC236}">
                <a16:creationId xmlns:a16="http://schemas.microsoft.com/office/drawing/2014/main" id="{D6348929-854C-EAC7-0BA4-B33BBE74883B}"/>
              </a:ext>
            </a:extLst>
          </p:cNvPr>
          <p:cNvPicPr>
            <a:picLocks noChangeAspect="1"/>
          </p:cNvPicPr>
          <p:nvPr/>
        </p:nvPicPr>
        <p:blipFill>
          <a:blip r:embed="rId5">
            <a:alphaModFix amt="10000"/>
          </a:blip>
          <a:stretch>
            <a:fillRect/>
          </a:stretch>
        </p:blipFill>
        <p:spPr>
          <a:xfrm>
            <a:off x="2052427" y="1036532"/>
            <a:ext cx="6643038" cy="5314431"/>
          </a:xfrm>
          <a:prstGeom prst="rect">
            <a:avLst/>
          </a:prstGeom>
          <a:noFill/>
          <a:effectLst>
            <a:outerShdw blurRad="292100" dist="50800" dir="5400000" algn="ctr" rotWithShape="0">
              <a:srgbClr val="000000">
                <a:alpha val="82000"/>
              </a:srgbClr>
            </a:outerShdw>
          </a:effectLst>
        </p:spPr>
      </p:pic>
    </p:spTree>
    <p:extLst>
      <p:ext uri="{BB962C8B-B14F-4D97-AF65-F5344CB8AC3E}">
        <p14:creationId xmlns:p14="http://schemas.microsoft.com/office/powerpoint/2010/main" val="3103965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52753-6A68-464A-875C-0E46834143C5}"/>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EEA60423-FEC6-0FB9-9343-E3079FA52085}"/>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B8A5DF4B-1A94-573E-067F-A13C9029AEF5}"/>
              </a:ext>
            </a:extLst>
          </p:cNvPr>
          <p:cNvSpPr txBox="1">
            <a:spLocks/>
          </p:cNvSpPr>
          <p:nvPr/>
        </p:nvSpPr>
        <p:spPr>
          <a:xfrm>
            <a:off x="662709" y="372381"/>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Data Acquisition &amp; Tools</a:t>
            </a:r>
          </a:p>
        </p:txBody>
      </p:sp>
      <p:sp>
        <p:nvSpPr>
          <p:cNvPr id="4" name="TextBox 3">
            <a:extLst>
              <a:ext uri="{FF2B5EF4-FFF2-40B4-BE49-F238E27FC236}">
                <a16:creationId xmlns:a16="http://schemas.microsoft.com/office/drawing/2014/main" id="{483D70BE-6149-40E0-8BC8-1DB1E4B0DB0B}"/>
              </a:ext>
            </a:extLst>
          </p:cNvPr>
          <p:cNvSpPr txBox="1"/>
          <p:nvPr/>
        </p:nvSpPr>
        <p:spPr>
          <a:xfrm>
            <a:off x="645098" y="1073220"/>
            <a:ext cx="8815960" cy="369332"/>
          </a:xfrm>
          <a:prstGeom prst="rect">
            <a:avLst/>
          </a:prstGeom>
          <a:noFill/>
        </p:spPr>
        <p:txBody>
          <a:bodyPr wrap="square" rtlCol="0">
            <a:spAutoFit/>
          </a:bodyPr>
          <a:lstStyle/>
          <a:p>
            <a:r>
              <a:rPr lang="en-IN" dirty="0"/>
              <a:t>The Data is gathered from the BC Government website and Canada Open Government data  </a:t>
            </a:r>
          </a:p>
        </p:txBody>
      </p:sp>
      <p:sp>
        <p:nvSpPr>
          <p:cNvPr id="5" name="TextBox 4">
            <a:extLst>
              <a:ext uri="{FF2B5EF4-FFF2-40B4-BE49-F238E27FC236}">
                <a16:creationId xmlns:a16="http://schemas.microsoft.com/office/drawing/2014/main" id="{8F8E2EED-EADF-B2AA-C28E-2294A076E25C}"/>
              </a:ext>
            </a:extLst>
          </p:cNvPr>
          <p:cNvSpPr txBox="1"/>
          <p:nvPr/>
        </p:nvSpPr>
        <p:spPr>
          <a:xfrm>
            <a:off x="645098" y="1516025"/>
            <a:ext cx="11782876" cy="2739211"/>
          </a:xfrm>
          <a:prstGeom prst="rect">
            <a:avLst/>
          </a:prstGeom>
          <a:noFill/>
        </p:spPr>
        <p:txBody>
          <a:bodyPr wrap="square" rtlCol="0">
            <a:spAutoFit/>
          </a:bodyPr>
          <a:lstStyle/>
          <a:p>
            <a:r>
              <a:rPr lang="en-IN" dirty="0"/>
              <a:t>DataSet#1: BC Surgical wait times 2009 – 2024</a:t>
            </a:r>
          </a:p>
          <a:p>
            <a:r>
              <a:rPr lang="en-IN" sz="1600" dirty="0">
                <a:hlinkClick r:id="rId3"/>
              </a:rPr>
              <a:t>https://open.canada.ca/data/en/dataset/7c1bf2a8-96bb-4ad5-888d-a90672eb306e/resource/896facf1-f379-413d-bcc7-b90259f329be</a:t>
            </a:r>
            <a:endParaRPr lang="en-IN" sz="1600" dirty="0"/>
          </a:p>
          <a:p>
            <a:endParaRPr lang="en-IN" dirty="0"/>
          </a:p>
          <a:p>
            <a:r>
              <a:rPr lang="en-IN" dirty="0"/>
              <a:t>DataSet#2: 2001-2011 Population Data - </a:t>
            </a:r>
          </a:p>
          <a:p>
            <a:r>
              <a:rPr lang="en-IN" sz="1600" dirty="0">
                <a:hlinkClick r:id="rId4"/>
              </a:rPr>
              <a:t>https://www2.gov.bc.ca/assets/gov/data/statistics/people-population-community/population/pop_municipal_subprov_areas_2001_2011.xlsx</a:t>
            </a:r>
            <a:endParaRPr lang="en-IN" sz="1600" dirty="0"/>
          </a:p>
          <a:p>
            <a:endParaRPr lang="en-IN" dirty="0"/>
          </a:p>
          <a:p>
            <a:r>
              <a:rPr lang="en-IN" dirty="0"/>
              <a:t>DataSet#3: 2011-2024 Population Data </a:t>
            </a:r>
          </a:p>
          <a:p>
            <a:r>
              <a:rPr lang="en-IN" sz="1600" dirty="0">
                <a:hlinkClick r:id="rId5"/>
              </a:rPr>
              <a:t>https://www2.gov.bc.ca/assets/gov/data/statistics/people-population-community/population/pop_municipal_subprov_areas.xlsx</a:t>
            </a:r>
            <a:endParaRPr lang="en-IN" sz="1600" dirty="0"/>
          </a:p>
          <a:p>
            <a:endParaRPr lang="en-IN" dirty="0"/>
          </a:p>
        </p:txBody>
      </p:sp>
      <p:sp>
        <p:nvSpPr>
          <p:cNvPr id="6" name="TextBox 5">
            <a:extLst>
              <a:ext uri="{FF2B5EF4-FFF2-40B4-BE49-F238E27FC236}">
                <a16:creationId xmlns:a16="http://schemas.microsoft.com/office/drawing/2014/main" id="{8DB97D43-2DE3-51ED-4DED-07F230EAD4FF}"/>
              </a:ext>
            </a:extLst>
          </p:cNvPr>
          <p:cNvSpPr txBox="1"/>
          <p:nvPr/>
        </p:nvSpPr>
        <p:spPr>
          <a:xfrm>
            <a:off x="662709" y="4559230"/>
            <a:ext cx="6206836" cy="2062103"/>
          </a:xfrm>
          <a:prstGeom prst="rect">
            <a:avLst/>
          </a:prstGeom>
          <a:noFill/>
        </p:spPr>
        <p:txBody>
          <a:bodyPr wrap="square" rtlCol="0">
            <a:spAutoFit/>
          </a:bodyPr>
          <a:lstStyle/>
          <a:p>
            <a:r>
              <a:rPr lang="en-IN" sz="2000" b="1" u="sng" dirty="0"/>
              <a:t>Tools:</a:t>
            </a:r>
          </a:p>
          <a:p>
            <a:endParaRPr lang="en-IN" dirty="0"/>
          </a:p>
          <a:p>
            <a:pPr marL="285750" indent="-285750">
              <a:buFont typeface="Arial" panose="020B0604020202020204" pitchFamily="34" charset="0"/>
              <a:buChar char="•"/>
            </a:pPr>
            <a:r>
              <a:rPr lang="en-IN" dirty="0"/>
              <a:t>VS Code</a:t>
            </a:r>
          </a:p>
          <a:p>
            <a:pPr marL="285750" indent="-285750">
              <a:buFont typeface="Arial" panose="020B0604020202020204" pitchFamily="34" charset="0"/>
              <a:buChar char="•"/>
            </a:pPr>
            <a:r>
              <a:rPr lang="en-IN" dirty="0" err="1"/>
              <a:t>Jupyter</a:t>
            </a:r>
            <a:endParaRPr lang="en-IN" dirty="0"/>
          </a:p>
          <a:p>
            <a:pPr marL="285750" indent="-285750">
              <a:buFont typeface="Arial" panose="020B0604020202020204" pitchFamily="34" charset="0"/>
              <a:buChar char="•"/>
            </a:pPr>
            <a:r>
              <a:rPr lang="en-IN" dirty="0" err="1"/>
              <a:t>Numpy</a:t>
            </a:r>
            <a:r>
              <a:rPr lang="en-IN" dirty="0"/>
              <a:t>, Pandas</a:t>
            </a:r>
          </a:p>
          <a:p>
            <a:pPr marL="285750" indent="-285750">
              <a:buFont typeface="Arial" panose="020B0604020202020204" pitchFamily="34" charset="0"/>
              <a:buChar char="•"/>
            </a:pPr>
            <a:r>
              <a:rPr lang="en-IN" dirty="0"/>
              <a:t>Bokeh</a:t>
            </a:r>
          </a:p>
          <a:p>
            <a:pPr marL="285750" indent="-285750">
              <a:buFont typeface="Arial" panose="020B0604020202020204" pitchFamily="34" charset="0"/>
              <a:buChar char="•"/>
            </a:pPr>
            <a:endParaRPr lang="en-IN" dirty="0"/>
          </a:p>
        </p:txBody>
      </p:sp>
      <p:pic>
        <p:nvPicPr>
          <p:cNvPr id="10" name="Picture 9" descr="A logo with grey circles and dots&#10;&#10;AI-generated content may be incorrect.">
            <a:extLst>
              <a:ext uri="{FF2B5EF4-FFF2-40B4-BE49-F238E27FC236}">
                <a16:creationId xmlns:a16="http://schemas.microsoft.com/office/drawing/2014/main" id="{500F5DD8-EBC0-7C2E-7B2D-5B29AD1783C1}"/>
              </a:ext>
            </a:extLst>
          </p:cNvPr>
          <p:cNvPicPr>
            <a:picLocks noChangeAspect="1"/>
          </p:cNvPicPr>
          <p:nvPr/>
        </p:nvPicPr>
        <p:blipFill>
          <a:blip r:embed="rId6"/>
          <a:stretch>
            <a:fillRect/>
          </a:stretch>
        </p:blipFill>
        <p:spPr>
          <a:xfrm>
            <a:off x="8651048" y="5144031"/>
            <a:ext cx="886594" cy="886594"/>
          </a:xfrm>
          <a:prstGeom prst="rect">
            <a:avLst/>
          </a:prstGeom>
        </p:spPr>
      </p:pic>
      <p:pic>
        <p:nvPicPr>
          <p:cNvPr id="14" name="Picture 13" descr="A blue and black logo&#10;&#10;AI-generated content may be incorrect.">
            <a:extLst>
              <a:ext uri="{FF2B5EF4-FFF2-40B4-BE49-F238E27FC236}">
                <a16:creationId xmlns:a16="http://schemas.microsoft.com/office/drawing/2014/main" id="{CFAF350D-0D76-529A-69D3-4F3C3BFE0006}"/>
              </a:ext>
            </a:extLst>
          </p:cNvPr>
          <p:cNvPicPr>
            <a:picLocks noChangeAspect="1"/>
          </p:cNvPicPr>
          <p:nvPr/>
        </p:nvPicPr>
        <p:blipFill>
          <a:blip r:embed="rId7"/>
          <a:stretch>
            <a:fillRect/>
          </a:stretch>
        </p:blipFill>
        <p:spPr>
          <a:xfrm>
            <a:off x="5087954" y="4880091"/>
            <a:ext cx="1317056" cy="1317056"/>
          </a:xfrm>
          <a:prstGeom prst="rect">
            <a:avLst/>
          </a:prstGeom>
        </p:spPr>
      </p:pic>
      <p:pic>
        <p:nvPicPr>
          <p:cNvPr id="16" name="Picture 15" descr="A blue and black text&#10;&#10;AI-generated content may be incorrect.">
            <a:extLst>
              <a:ext uri="{FF2B5EF4-FFF2-40B4-BE49-F238E27FC236}">
                <a16:creationId xmlns:a16="http://schemas.microsoft.com/office/drawing/2014/main" id="{0DBACACB-5AB9-5370-4567-9F01BAC4D6A4}"/>
              </a:ext>
            </a:extLst>
          </p:cNvPr>
          <p:cNvPicPr>
            <a:picLocks noChangeAspect="1"/>
          </p:cNvPicPr>
          <p:nvPr/>
        </p:nvPicPr>
        <p:blipFill>
          <a:blip r:embed="rId8"/>
          <a:stretch>
            <a:fillRect/>
          </a:stretch>
        </p:blipFill>
        <p:spPr>
          <a:xfrm>
            <a:off x="6698530" y="5280448"/>
            <a:ext cx="1515654" cy="613761"/>
          </a:xfrm>
          <a:prstGeom prst="rect">
            <a:avLst/>
          </a:prstGeom>
        </p:spPr>
      </p:pic>
      <p:pic>
        <p:nvPicPr>
          <p:cNvPr id="20" name="Picture 19" descr="A logo with blue text">
            <a:extLst>
              <a:ext uri="{FF2B5EF4-FFF2-40B4-BE49-F238E27FC236}">
                <a16:creationId xmlns:a16="http://schemas.microsoft.com/office/drawing/2014/main" id="{DBDE6014-B2A1-CF11-A60B-5E4A5FB09220}"/>
              </a:ext>
            </a:extLst>
          </p:cNvPr>
          <p:cNvPicPr>
            <a:picLocks noChangeAspect="1"/>
          </p:cNvPicPr>
          <p:nvPr/>
        </p:nvPicPr>
        <p:blipFill>
          <a:blip r:embed="rId9">
            <a:alphaModFix amt="79000"/>
          </a:blip>
          <a:stretch>
            <a:fillRect/>
          </a:stretch>
        </p:blipFill>
        <p:spPr>
          <a:xfrm>
            <a:off x="9281652" y="87824"/>
            <a:ext cx="2756273" cy="814121"/>
          </a:xfrm>
          <a:prstGeom prst="rect">
            <a:avLst/>
          </a:prstGeom>
        </p:spPr>
      </p:pic>
      <p:pic>
        <p:nvPicPr>
          <p:cNvPr id="22" name="Picture 21" descr="A blue logo with white border">
            <a:extLst>
              <a:ext uri="{FF2B5EF4-FFF2-40B4-BE49-F238E27FC236}">
                <a16:creationId xmlns:a16="http://schemas.microsoft.com/office/drawing/2014/main" id="{5BAFCC9B-29CE-E72D-B670-0EBE44AE8619}"/>
              </a:ext>
            </a:extLst>
          </p:cNvPr>
          <p:cNvPicPr>
            <a:picLocks noChangeAspect="1"/>
          </p:cNvPicPr>
          <p:nvPr/>
        </p:nvPicPr>
        <p:blipFill>
          <a:blip r:embed="rId10"/>
          <a:stretch>
            <a:fillRect/>
          </a:stretch>
        </p:blipFill>
        <p:spPr>
          <a:xfrm>
            <a:off x="3330806" y="5025806"/>
            <a:ext cx="955617" cy="955617"/>
          </a:xfrm>
          <a:prstGeom prst="rect">
            <a:avLst/>
          </a:prstGeom>
        </p:spPr>
      </p:pic>
      <p:pic>
        <p:nvPicPr>
          <p:cNvPr id="24" name="Picture 23" descr="A logo with a rainbow flower&#10;&#10;AI-generated content may be incorrect.">
            <a:extLst>
              <a:ext uri="{FF2B5EF4-FFF2-40B4-BE49-F238E27FC236}">
                <a16:creationId xmlns:a16="http://schemas.microsoft.com/office/drawing/2014/main" id="{326E0826-489B-746A-67F3-3ABC40AA9117}"/>
              </a:ext>
            </a:extLst>
          </p:cNvPr>
          <p:cNvPicPr>
            <a:picLocks noChangeAspect="1"/>
          </p:cNvPicPr>
          <p:nvPr/>
        </p:nvPicPr>
        <p:blipFill>
          <a:blip r:embed="rId11"/>
          <a:stretch>
            <a:fillRect/>
          </a:stretch>
        </p:blipFill>
        <p:spPr>
          <a:xfrm>
            <a:off x="9851872" y="4410587"/>
            <a:ext cx="2186053" cy="2186053"/>
          </a:xfrm>
          <a:prstGeom prst="rect">
            <a:avLst/>
          </a:prstGeom>
        </p:spPr>
      </p:pic>
    </p:spTree>
    <p:extLst>
      <p:ext uri="{BB962C8B-B14F-4D97-AF65-F5344CB8AC3E}">
        <p14:creationId xmlns:p14="http://schemas.microsoft.com/office/powerpoint/2010/main" val="3974870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6D4F1-8A28-3844-CDB0-FE5ACEC1E9BC}"/>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3217313E-3082-4825-263C-B31D8091A64E}"/>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00106ECA-3CA4-7C4F-3B62-FD564A76F952}"/>
              </a:ext>
            </a:extLst>
          </p:cNvPr>
          <p:cNvSpPr txBox="1">
            <a:spLocks/>
          </p:cNvSpPr>
          <p:nvPr/>
        </p:nvSpPr>
        <p:spPr>
          <a:xfrm>
            <a:off x="662709" y="400825"/>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Data Preparation</a:t>
            </a:r>
          </a:p>
        </p:txBody>
      </p:sp>
      <p:sp>
        <p:nvSpPr>
          <p:cNvPr id="4" name="TextBox 3">
            <a:extLst>
              <a:ext uri="{FF2B5EF4-FFF2-40B4-BE49-F238E27FC236}">
                <a16:creationId xmlns:a16="http://schemas.microsoft.com/office/drawing/2014/main" id="{7AB0D3A3-6B4D-90E6-5FD5-4D289E79FF4E}"/>
              </a:ext>
            </a:extLst>
          </p:cNvPr>
          <p:cNvSpPr txBox="1"/>
          <p:nvPr/>
        </p:nvSpPr>
        <p:spPr>
          <a:xfrm>
            <a:off x="662709" y="1106304"/>
            <a:ext cx="11018386" cy="646331"/>
          </a:xfrm>
          <a:prstGeom prst="rect">
            <a:avLst/>
          </a:prstGeom>
          <a:noFill/>
        </p:spPr>
        <p:txBody>
          <a:bodyPr wrap="square" rtlCol="0">
            <a:spAutoFit/>
          </a:bodyPr>
          <a:lstStyle/>
          <a:p>
            <a:r>
              <a:rPr lang="en-IN" dirty="0"/>
              <a:t>The Surgical Wait times data has data from 2009 to 2024. The Population data set is split into files – 2001 to 2011 and 2011 to 2024. So it is merged it into one. </a:t>
            </a:r>
          </a:p>
        </p:txBody>
      </p:sp>
      <p:sp>
        <p:nvSpPr>
          <p:cNvPr id="5" name="TextBox 4">
            <a:extLst>
              <a:ext uri="{FF2B5EF4-FFF2-40B4-BE49-F238E27FC236}">
                <a16:creationId xmlns:a16="http://schemas.microsoft.com/office/drawing/2014/main" id="{5C936FD8-28F0-B821-686C-A98491BC728C}"/>
              </a:ext>
            </a:extLst>
          </p:cNvPr>
          <p:cNvSpPr txBox="1"/>
          <p:nvPr/>
        </p:nvSpPr>
        <p:spPr>
          <a:xfrm>
            <a:off x="662709" y="1868205"/>
            <a:ext cx="10559845" cy="646331"/>
          </a:xfrm>
          <a:prstGeom prst="rect">
            <a:avLst/>
          </a:prstGeom>
          <a:noFill/>
        </p:spPr>
        <p:txBody>
          <a:bodyPr wrap="square" rtlCol="0">
            <a:spAutoFit/>
          </a:bodyPr>
          <a:lstStyle/>
          <a:p>
            <a:r>
              <a:rPr lang="en-IN" dirty="0"/>
              <a:t>After loading the Excel sheets to Data frame, we can see the 2011 Population is common in both. In order to drop that we have to see if it is same in both Data frames.</a:t>
            </a:r>
          </a:p>
        </p:txBody>
      </p:sp>
      <p:pic>
        <p:nvPicPr>
          <p:cNvPr id="7" name="Picture 6">
            <a:extLst>
              <a:ext uri="{FF2B5EF4-FFF2-40B4-BE49-F238E27FC236}">
                <a16:creationId xmlns:a16="http://schemas.microsoft.com/office/drawing/2014/main" id="{1A789354-228F-9BEB-2F70-0ACF5D5C8DEB}"/>
              </a:ext>
            </a:extLst>
          </p:cNvPr>
          <p:cNvPicPr>
            <a:picLocks noChangeAspect="1"/>
          </p:cNvPicPr>
          <p:nvPr/>
        </p:nvPicPr>
        <p:blipFill>
          <a:blip r:embed="rId3"/>
          <a:stretch>
            <a:fillRect/>
          </a:stretch>
        </p:blipFill>
        <p:spPr>
          <a:xfrm>
            <a:off x="1702473" y="2630106"/>
            <a:ext cx="8436071" cy="1348857"/>
          </a:xfrm>
          <a:prstGeom prst="rect">
            <a:avLst/>
          </a:prstGeom>
        </p:spPr>
      </p:pic>
      <p:sp>
        <p:nvSpPr>
          <p:cNvPr id="8" name="TextBox 7">
            <a:extLst>
              <a:ext uri="{FF2B5EF4-FFF2-40B4-BE49-F238E27FC236}">
                <a16:creationId xmlns:a16="http://schemas.microsoft.com/office/drawing/2014/main" id="{469C69A7-AB9E-8EE5-5FB3-B889A8E751E0}"/>
              </a:ext>
            </a:extLst>
          </p:cNvPr>
          <p:cNvSpPr txBox="1"/>
          <p:nvPr/>
        </p:nvSpPr>
        <p:spPr>
          <a:xfrm>
            <a:off x="747250" y="4106163"/>
            <a:ext cx="10559845" cy="646331"/>
          </a:xfrm>
          <a:prstGeom prst="rect">
            <a:avLst/>
          </a:prstGeom>
          <a:noFill/>
        </p:spPr>
        <p:txBody>
          <a:bodyPr wrap="square" rtlCol="0">
            <a:spAutoFit/>
          </a:bodyPr>
          <a:lstStyle/>
          <a:p>
            <a:r>
              <a:rPr lang="en-IN" dirty="0"/>
              <a:t>We drop the 2011 data. Then we see if there is any mismatch in the City names to join them based on City and update them.</a:t>
            </a:r>
          </a:p>
        </p:txBody>
      </p:sp>
      <p:pic>
        <p:nvPicPr>
          <p:cNvPr id="10" name="Picture 9">
            <a:extLst>
              <a:ext uri="{FF2B5EF4-FFF2-40B4-BE49-F238E27FC236}">
                <a16:creationId xmlns:a16="http://schemas.microsoft.com/office/drawing/2014/main" id="{EB2D7B00-4BCB-6E55-B992-519E674148ED}"/>
              </a:ext>
            </a:extLst>
          </p:cNvPr>
          <p:cNvPicPr>
            <a:picLocks noChangeAspect="1"/>
          </p:cNvPicPr>
          <p:nvPr/>
        </p:nvPicPr>
        <p:blipFill>
          <a:blip r:embed="rId4"/>
          <a:stretch>
            <a:fillRect/>
          </a:stretch>
        </p:blipFill>
        <p:spPr>
          <a:xfrm>
            <a:off x="373575" y="4649990"/>
            <a:ext cx="8192611" cy="1694131"/>
          </a:xfrm>
          <a:prstGeom prst="rect">
            <a:avLst/>
          </a:prstGeom>
        </p:spPr>
      </p:pic>
      <p:pic>
        <p:nvPicPr>
          <p:cNvPr id="12" name="Picture 11">
            <a:extLst>
              <a:ext uri="{FF2B5EF4-FFF2-40B4-BE49-F238E27FC236}">
                <a16:creationId xmlns:a16="http://schemas.microsoft.com/office/drawing/2014/main" id="{EEE4B3CD-71A7-0F1B-DF11-FF0E8742A2D1}"/>
              </a:ext>
            </a:extLst>
          </p:cNvPr>
          <p:cNvPicPr>
            <a:picLocks noChangeAspect="1"/>
          </p:cNvPicPr>
          <p:nvPr/>
        </p:nvPicPr>
        <p:blipFill>
          <a:blip r:embed="rId5"/>
          <a:stretch>
            <a:fillRect/>
          </a:stretch>
        </p:blipFill>
        <p:spPr>
          <a:xfrm>
            <a:off x="5467829" y="4764047"/>
            <a:ext cx="6663059" cy="1074045"/>
          </a:xfrm>
          <a:prstGeom prst="rect">
            <a:avLst/>
          </a:prstGeom>
        </p:spPr>
      </p:pic>
    </p:spTree>
    <p:extLst>
      <p:ext uri="{BB962C8B-B14F-4D97-AF65-F5344CB8AC3E}">
        <p14:creationId xmlns:p14="http://schemas.microsoft.com/office/powerpoint/2010/main" val="2664005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EA482-8C3A-787F-8FD2-E54752E68A2D}"/>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A51F428E-B6CF-BEF2-830B-4F724D0A13CA}"/>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4F328D14-0296-4380-1959-57BA7C9F10E0}"/>
              </a:ext>
            </a:extLst>
          </p:cNvPr>
          <p:cNvSpPr txBox="1">
            <a:spLocks/>
          </p:cNvSpPr>
          <p:nvPr/>
        </p:nvSpPr>
        <p:spPr>
          <a:xfrm>
            <a:off x="662709" y="400825"/>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Data Preparation </a:t>
            </a:r>
            <a:r>
              <a:rPr lang="en-IN" sz="2400" b="0" dirty="0"/>
              <a:t>(cont..)</a:t>
            </a:r>
            <a:endParaRPr lang="en-IN" b="0" dirty="0"/>
          </a:p>
        </p:txBody>
      </p:sp>
      <p:sp>
        <p:nvSpPr>
          <p:cNvPr id="4" name="TextBox 3">
            <a:extLst>
              <a:ext uri="{FF2B5EF4-FFF2-40B4-BE49-F238E27FC236}">
                <a16:creationId xmlns:a16="http://schemas.microsoft.com/office/drawing/2014/main" id="{88357AA2-6791-C613-8BBB-89A26E7F8817}"/>
              </a:ext>
            </a:extLst>
          </p:cNvPr>
          <p:cNvSpPr txBox="1"/>
          <p:nvPr/>
        </p:nvSpPr>
        <p:spPr>
          <a:xfrm>
            <a:off x="662709" y="1106304"/>
            <a:ext cx="11018386" cy="369332"/>
          </a:xfrm>
          <a:prstGeom prst="rect">
            <a:avLst/>
          </a:prstGeom>
          <a:noFill/>
        </p:spPr>
        <p:txBody>
          <a:bodyPr wrap="square" rtlCol="0">
            <a:spAutoFit/>
          </a:bodyPr>
          <a:lstStyle/>
          <a:p>
            <a:r>
              <a:rPr lang="en-IN" dirty="0"/>
              <a:t>We also dropped the columns that are not significant and combined the data based on City name.</a:t>
            </a:r>
          </a:p>
        </p:txBody>
      </p:sp>
      <p:sp>
        <p:nvSpPr>
          <p:cNvPr id="8" name="TextBox 7">
            <a:extLst>
              <a:ext uri="{FF2B5EF4-FFF2-40B4-BE49-F238E27FC236}">
                <a16:creationId xmlns:a16="http://schemas.microsoft.com/office/drawing/2014/main" id="{6C2AD1A7-51F1-7931-A7BD-8DB5996D41C4}"/>
              </a:ext>
            </a:extLst>
          </p:cNvPr>
          <p:cNvSpPr txBox="1"/>
          <p:nvPr/>
        </p:nvSpPr>
        <p:spPr>
          <a:xfrm>
            <a:off x="751438" y="2591626"/>
            <a:ext cx="10805562" cy="646331"/>
          </a:xfrm>
          <a:prstGeom prst="rect">
            <a:avLst/>
          </a:prstGeom>
          <a:noFill/>
        </p:spPr>
        <p:txBody>
          <a:bodyPr wrap="square" rtlCol="0">
            <a:spAutoFit/>
          </a:bodyPr>
          <a:lstStyle/>
          <a:p>
            <a:r>
              <a:rPr lang="en-IN" dirty="0"/>
              <a:t>After we load the surgical wait times, drop the non significant columns, and see the data is based on Fiscal Year. So creating a new Column Calendar year to combine with the Population Data.</a:t>
            </a:r>
          </a:p>
        </p:txBody>
      </p:sp>
      <p:pic>
        <p:nvPicPr>
          <p:cNvPr id="9" name="Picture 8">
            <a:extLst>
              <a:ext uri="{FF2B5EF4-FFF2-40B4-BE49-F238E27FC236}">
                <a16:creationId xmlns:a16="http://schemas.microsoft.com/office/drawing/2014/main" id="{C6E21BB2-349E-1C44-AAE1-C4EA3F1F1346}"/>
              </a:ext>
            </a:extLst>
          </p:cNvPr>
          <p:cNvPicPr>
            <a:picLocks noChangeAspect="1"/>
          </p:cNvPicPr>
          <p:nvPr/>
        </p:nvPicPr>
        <p:blipFill>
          <a:blip r:embed="rId3"/>
          <a:stretch>
            <a:fillRect/>
          </a:stretch>
        </p:blipFill>
        <p:spPr>
          <a:xfrm>
            <a:off x="4295526" y="1543917"/>
            <a:ext cx="7140559" cy="723963"/>
          </a:xfrm>
          <a:prstGeom prst="rect">
            <a:avLst/>
          </a:prstGeom>
        </p:spPr>
      </p:pic>
      <p:pic>
        <p:nvPicPr>
          <p:cNvPr id="15" name="Picture 14">
            <a:extLst>
              <a:ext uri="{FF2B5EF4-FFF2-40B4-BE49-F238E27FC236}">
                <a16:creationId xmlns:a16="http://schemas.microsoft.com/office/drawing/2014/main" id="{46E886E4-707E-AE7F-27F4-C285102D458F}"/>
              </a:ext>
            </a:extLst>
          </p:cNvPr>
          <p:cNvPicPr>
            <a:picLocks noChangeAspect="1"/>
          </p:cNvPicPr>
          <p:nvPr/>
        </p:nvPicPr>
        <p:blipFill>
          <a:blip r:embed="rId4"/>
          <a:srcRect r="40082" b="-7912"/>
          <a:stretch>
            <a:fillRect/>
          </a:stretch>
        </p:blipFill>
        <p:spPr>
          <a:xfrm>
            <a:off x="751438" y="3620044"/>
            <a:ext cx="3337858" cy="2483530"/>
          </a:xfrm>
          <a:prstGeom prst="rect">
            <a:avLst/>
          </a:prstGeom>
        </p:spPr>
      </p:pic>
      <p:pic>
        <p:nvPicPr>
          <p:cNvPr id="17" name="Picture 16">
            <a:extLst>
              <a:ext uri="{FF2B5EF4-FFF2-40B4-BE49-F238E27FC236}">
                <a16:creationId xmlns:a16="http://schemas.microsoft.com/office/drawing/2014/main" id="{7FE171FB-5ED9-217B-A783-1974DDA20EE8}"/>
              </a:ext>
            </a:extLst>
          </p:cNvPr>
          <p:cNvPicPr>
            <a:picLocks noChangeAspect="1"/>
          </p:cNvPicPr>
          <p:nvPr/>
        </p:nvPicPr>
        <p:blipFill>
          <a:blip r:embed="rId5"/>
          <a:stretch>
            <a:fillRect/>
          </a:stretch>
        </p:blipFill>
        <p:spPr>
          <a:xfrm>
            <a:off x="4717709" y="3517037"/>
            <a:ext cx="7575873" cy="2483530"/>
          </a:xfrm>
          <a:prstGeom prst="rect">
            <a:avLst/>
          </a:prstGeom>
        </p:spPr>
      </p:pic>
    </p:spTree>
    <p:extLst>
      <p:ext uri="{BB962C8B-B14F-4D97-AF65-F5344CB8AC3E}">
        <p14:creationId xmlns:p14="http://schemas.microsoft.com/office/powerpoint/2010/main" val="1808503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86D91-5DCA-156E-59A2-B6C5B0402A76}"/>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713AC914-5751-BE97-70F6-71567884ADBB}"/>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D85D7A4B-DB74-FC7D-26EA-2740A41AA4DB}"/>
              </a:ext>
            </a:extLst>
          </p:cNvPr>
          <p:cNvSpPr txBox="1">
            <a:spLocks/>
          </p:cNvSpPr>
          <p:nvPr/>
        </p:nvSpPr>
        <p:spPr>
          <a:xfrm>
            <a:off x="662709" y="400825"/>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Data Preparation </a:t>
            </a:r>
            <a:r>
              <a:rPr lang="en-IN" sz="2400" b="0" dirty="0"/>
              <a:t>(cont..)</a:t>
            </a:r>
            <a:endParaRPr lang="en-IN" dirty="0"/>
          </a:p>
        </p:txBody>
      </p:sp>
      <p:sp>
        <p:nvSpPr>
          <p:cNvPr id="4" name="TextBox 3">
            <a:extLst>
              <a:ext uri="{FF2B5EF4-FFF2-40B4-BE49-F238E27FC236}">
                <a16:creationId xmlns:a16="http://schemas.microsoft.com/office/drawing/2014/main" id="{D3435927-D44F-2AE9-5F42-553A4FF71302}"/>
              </a:ext>
            </a:extLst>
          </p:cNvPr>
          <p:cNvSpPr txBox="1"/>
          <p:nvPr/>
        </p:nvSpPr>
        <p:spPr>
          <a:xfrm>
            <a:off x="662709" y="1106304"/>
            <a:ext cx="11018386" cy="338554"/>
          </a:xfrm>
          <a:prstGeom prst="rect">
            <a:avLst/>
          </a:prstGeom>
          <a:noFill/>
        </p:spPr>
        <p:txBody>
          <a:bodyPr wrap="square" rtlCol="0">
            <a:spAutoFit/>
          </a:bodyPr>
          <a:lstStyle/>
          <a:p>
            <a:r>
              <a:rPr lang="en-IN" sz="1600" dirty="0"/>
              <a:t>Also, we don’t have CITY details in the Surgical wait times. We are updating the City name based on the Hospitals.</a:t>
            </a:r>
          </a:p>
        </p:txBody>
      </p:sp>
      <p:pic>
        <p:nvPicPr>
          <p:cNvPr id="10" name="Picture 9">
            <a:extLst>
              <a:ext uri="{FF2B5EF4-FFF2-40B4-BE49-F238E27FC236}">
                <a16:creationId xmlns:a16="http://schemas.microsoft.com/office/drawing/2014/main" id="{8925C5CF-5692-CD62-2906-9366873B1F15}"/>
              </a:ext>
            </a:extLst>
          </p:cNvPr>
          <p:cNvPicPr>
            <a:picLocks noChangeAspect="1"/>
          </p:cNvPicPr>
          <p:nvPr/>
        </p:nvPicPr>
        <p:blipFill>
          <a:blip r:embed="rId3"/>
          <a:stretch>
            <a:fillRect/>
          </a:stretch>
        </p:blipFill>
        <p:spPr>
          <a:xfrm>
            <a:off x="662709" y="3894538"/>
            <a:ext cx="8935697" cy="828791"/>
          </a:xfrm>
          <a:prstGeom prst="rect">
            <a:avLst/>
          </a:prstGeom>
        </p:spPr>
      </p:pic>
      <p:sp>
        <p:nvSpPr>
          <p:cNvPr id="11" name="TextBox 10">
            <a:extLst>
              <a:ext uri="{FF2B5EF4-FFF2-40B4-BE49-F238E27FC236}">
                <a16:creationId xmlns:a16="http://schemas.microsoft.com/office/drawing/2014/main" id="{A355C8F8-E540-6C82-8DBA-DE8F66CC69D1}"/>
              </a:ext>
            </a:extLst>
          </p:cNvPr>
          <p:cNvSpPr txBox="1"/>
          <p:nvPr/>
        </p:nvSpPr>
        <p:spPr>
          <a:xfrm>
            <a:off x="586807" y="4984853"/>
            <a:ext cx="11018386" cy="584775"/>
          </a:xfrm>
          <a:prstGeom prst="rect">
            <a:avLst/>
          </a:prstGeom>
          <a:noFill/>
        </p:spPr>
        <p:txBody>
          <a:bodyPr wrap="square" rtlCol="0">
            <a:spAutoFit/>
          </a:bodyPr>
          <a:lstStyle/>
          <a:p>
            <a:r>
              <a:rPr lang="en-IN" sz="1600" dirty="0"/>
              <a:t>After cleaning the CITY names, and Combining the data for Cities like Langley City and Langley Township, and converting the Population data in Long format, we can merge them to a single Data Frame. </a:t>
            </a:r>
          </a:p>
        </p:txBody>
      </p:sp>
      <p:pic>
        <p:nvPicPr>
          <p:cNvPr id="13" name="Picture 12">
            <a:extLst>
              <a:ext uri="{FF2B5EF4-FFF2-40B4-BE49-F238E27FC236}">
                <a16:creationId xmlns:a16="http://schemas.microsoft.com/office/drawing/2014/main" id="{50999827-B154-F26B-BFEE-F064B54B9FA5}"/>
              </a:ext>
            </a:extLst>
          </p:cNvPr>
          <p:cNvPicPr>
            <a:picLocks noChangeAspect="1"/>
          </p:cNvPicPr>
          <p:nvPr/>
        </p:nvPicPr>
        <p:blipFill>
          <a:blip r:embed="rId4"/>
          <a:srcRect t="-1200" r="8951"/>
          <a:stretch>
            <a:fillRect/>
          </a:stretch>
        </p:blipFill>
        <p:spPr>
          <a:xfrm>
            <a:off x="580429" y="5568349"/>
            <a:ext cx="11100666" cy="646331"/>
          </a:xfrm>
          <a:prstGeom prst="rect">
            <a:avLst/>
          </a:prstGeom>
        </p:spPr>
      </p:pic>
      <p:sp>
        <p:nvSpPr>
          <p:cNvPr id="14" name="TextBox 13">
            <a:extLst>
              <a:ext uri="{FF2B5EF4-FFF2-40B4-BE49-F238E27FC236}">
                <a16:creationId xmlns:a16="http://schemas.microsoft.com/office/drawing/2014/main" id="{BD70D8B9-0AF2-ECBF-40B4-71E57CAB2002}"/>
              </a:ext>
            </a:extLst>
          </p:cNvPr>
          <p:cNvSpPr txBox="1"/>
          <p:nvPr/>
        </p:nvSpPr>
        <p:spPr>
          <a:xfrm>
            <a:off x="586807" y="6287898"/>
            <a:ext cx="10195791" cy="338554"/>
          </a:xfrm>
          <a:prstGeom prst="rect">
            <a:avLst/>
          </a:prstGeom>
          <a:noFill/>
        </p:spPr>
        <p:txBody>
          <a:bodyPr wrap="square" rtlCol="0">
            <a:spAutoFit/>
          </a:bodyPr>
          <a:lstStyle/>
          <a:p>
            <a:r>
              <a:rPr lang="en-IN" sz="1600" dirty="0"/>
              <a:t>Extracted the cleaned data in a parquet file to load it in the new Notebook</a:t>
            </a:r>
          </a:p>
        </p:txBody>
      </p:sp>
      <p:pic>
        <p:nvPicPr>
          <p:cNvPr id="8" name="Picture 7">
            <a:extLst>
              <a:ext uri="{FF2B5EF4-FFF2-40B4-BE49-F238E27FC236}">
                <a16:creationId xmlns:a16="http://schemas.microsoft.com/office/drawing/2014/main" id="{6E11C030-9FF7-C685-A431-3E232D023055}"/>
              </a:ext>
            </a:extLst>
          </p:cNvPr>
          <p:cNvPicPr>
            <a:picLocks noChangeAspect="1"/>
          </p:cNvPicPr>
          <p:nvPr/>
        </p:nvPicPr>
        <p:blipFill>
          <a:blip r:embed="rId5"/>
          <a:stretch>
            <a:fillRect/>
          </a:stretch>
        </p:blipFill>
        <p:spPr>
          <a:xfrm>
            <a:off x="662709" y="1465324"/>
            <a:ext cx="6754168" cy="2429214"/>
          </a:xfrm>
          <a:prstGeom prst="rect">
            <a:avLst/>
          </a:prstGeom>
        </p:spPr>
      </p:pic>
    </p:spTree>
    <p:extLst>
      <p:ext uri="{BB962C8B-B14F-4D97-AF65-F5344CB8AC3E}">
        <p14:creationId xmlns:p14="http://schemas.microsoft.com/office/powerpoint/2010/main" val="888515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0966-0558-0975-3AD8-256373A1AAD3}"/>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72DE5F49-8602-FEC8-080B-7C66472D5BB2}"/>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818D1C12-EF14-DB3E-ED98-DC85886617A3}"/>
              </a:ext>
            </a:extLst>
          </p:cNvPr>
          <p:cNvSpPr txBox="1">
            <a:spLocks/>
          </p:cNvSpPr>
          <p:nvPr/>
        </p:nvSpPr>
        <p:spPr>
          <a:xfrm>
            <a:off x="319038" y="285989"/>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EDA &amp; Data Analysis</a:t>
            </a:r>
          </a:p>
        </p:txBody>
      </p:sp>
      <p:pic>
        <p:nvPicPr>
          <p:cNvPr id="6" name="Picture 5">
            <a:extLst>
              <a:ext uri="{FF2B5EF4-FFF2-40B4-BE49-F238E27FC236}">
                <a16:creationId xmlns:a16="http://schemas.microsoft.com/office/drawing/2014/main" id="{3113DFB0-BEDE-13E2-AE79-45BD13709BF0}"/>
              </a:ext>
            </a:extLst>
          </p:cNvPr>
          <p:cNvPicPr>
            <a:picLocks noChangeAspect="1"/>
          </p:cNvPicPr>
          <p:nvPr/>
        </p:nvPicPr>
        <p:blipFill>
          <a:blip r:embed="rId3"/>
          <a:stretch>
            <a:fillRect/>
          </a:stretch>
        </p:blipFill>
        <p:spPr>
          <a:xfrm>
            <a:off x="2339367" y="1560385"/>
            <a:ext cx="7513265" cy="2143245"/>
          </a:xfrm>
          <a:prstGeom prst="rect">
            <a:avLst/>
          </a:prstGeom>
        </p:spPr>
      </p:pic>
      <p:sp>
        <p:nvSpPr>
          <p:cNvPr id="7" name="TextBox 6">
            <a:extLst>
              <a:ext uri="{FF2B5EF4-FFF2-40B4-BE49-F238E27FC236}">
                <a16:creationId xmlns:a16="http://schemas.microsoft.com/office/drawing/2014/main" id="{2705876F-9DDC-CAC8-C9F6-F67407B28B30}"/>
              </a:ext>
            </a:extLst>
          </p:cNvPr>
          <p:cNvSpPr txBox="1"/>
          <p:nvPr/>
        </p:nvSpPr>
        <p:spPr>
          <a:xfrm>
            <a:off x="319038" y="923187"/>
            <a:ext cx="10749684" cy="584775"/>
          </a:xfrm>
          <a:prstGeom prst="rect">
            <a:avLst/>
          </a:prstGeom>
          <a:noFill/>
        </p:spPr>
        <p:txBody>
          <a:bodyPr wrap="square" rtlCol="0">
            <a:spAutoFit/>
          </a:bodyPr>
          <a:lstStyle/>
          <a:p>
            <a:r>
              <a:rPr lang="en-IN" sz="1600" dirty="0"/>
              <a:t>We compare the Mean Surgical Wait time and Mean Population over the years. The chart looks more similar but it doesn’t bring the clear insight on the question if Population growth affects wait times.</a:t>
            </a:r>
          </a:p>
        </p:txBody>
      </p:sp>
      <p:sp>
        <p:nvSpPr>
          <p:cNvPr id="8" name="TextBox 7">
            <a:extLst>
              <a:ext uri="{FF2B5EF4-FFF2-40B4-BE49-F238E27FC236}">
                <a16:creationId xmlns:a16="http://schemas.microsoft.com/office/drawing/2014/main" id="{F0D550CC-9780-4BE1-8430-02E044189C24}"/>
              </a:ext>
            </a:extLst>
          </p:cNvPr>
          <p:cNvSpPr txBox="1"/>
          <p:nvPr/>
        </p:nvSpPr>
        <p:spPr>
          <a:xfrm>
            <a:off x="557163" y="3881924"/>
            <a:ext cx="10749684" cy="338554"/>
          </a:xfrm>
          <a:prstGeom prst="rect">
            <a:avLst/>
          </a:prstGeom>
          <a:noFill/>
        </p:spPr>
        <p:txBody>
          <a:bodyPr wrap="square" rtlCol="0">
            <a:spAutoFit/>
          </a:bodyPr>
          <a:lstStyle/>
          <a:p>
            <a:r>
              <a:rPr lang="en-IN" sz="1600" dirty="0"/>
              <a:t>So, We compare the Average Population growth and Average Wait Times over the years</a:t>
            </a:r>
          </a:p>
        </p:txBody>
      </p:sp>
      <p:pic>
        <p:nvPicPr>
          <p:cNvPr id="10" name="Picture 9">
            <a:extLst>
              <a:ext uri="{FF2B5EF4-FFF2-40B4-BE49-F238E27FC236}">
                <a16:creationId xmlns:a16="http://schemas.microsoft.com/office/drawing/2014/main" id="{59DAD95E-7528-7598-5B1A-05C453BB91C0}"/>
              </a:ext>
            </a:extLst>
          </p:cNvPr>
          <p:cNvPicPr>
            <a:picLocks noChangeAspect="1"/>
          </p:cNvPicPr>
          <p:nvPr/>
        </p:nvPicPr>
        <p:blipFill>
          <a:blip r:embed="rId4"/>
          <a:stretch>
            <a:fillRect/>
          </a:stretch>
        </p:blipFill>
        <p:spPr>
          <a:xfrm>
            <a:off x="3790998" y="4197294"/>
            <a:ext cx="4438601" cy="2576527"/>
          </a:xfrm>
          <a:prstGeom prst="rect">
            <a:avLst/>
          </a:prstGeom>
        </p:spPr>
      </p:pic>
    </p:spTree>
    <p:extLst>
      <p:ext uri="{BB962C8B-B14F-4D97-AF65-F5344CB8AC3E}">
        <p14:creationId xmlns:p14="http://schemas.microsoft.com/office/powerpoint/2010/main" val="3925800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D8AF6-0A39-F201-8E86-382B32D11D81}"/>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CA955540-07F0-A2B4-5412-6C3AF90CDE8A}"/>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6339749F-4B56-1955-7F58-CD2A9654972F}"/>
              </a:ext>
            </a:extLst>
          </p:cNvPr>
          <p:cNvSpPr txBox="1">
            <a:spLocks/>
          </p:cNvSpPr>
          <p:nvPr/>
        </p:nvSpPr>
        <p:spPr>
          <a:xfrm>
            <a:off x="319038" y="285989"/>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EDA &amp; Data Analysis </a:t>
            </a:r>
            <a:r>
              <a:rPr lang="en-IN" sz="2400" b="0" dirty="0"/>
              <a:t>(cont..)</a:t>
            </a:r>
            <a:endParaRPr lang="en-IN" dirty="0"/>
          </a:p>
        </p:txBody>
      </p:sp>
      <p:sp>
        <p:nvSpPr>
          <p:cNvPr id="7" name="TextBox 6">
            <a:extLst>
              <a:ext uri="{FF2B5EF4-FFF2-40B4-BE49-F238E27FC236}">
                <a16:creationId xmlns:a16="http://schemas.microsoft.com/office/drawing/2014/main" id="{731B3A71-A677-00F5-71CE-986AE9750E96}"/>
              </a:ext>
            </a:extLst>
          </p:cNvPr>
          <p:cNvSpPr txBox="1"/>
          <p:nvPr/>
        </p:nvSpPr>
        <p:spPr>
          <a:xfrm>
            <a:off x="319038" y="923187"/>
            <a:ext cx="10749684" cy="338554"/>
          </a:xfrm>
          <a:prstGeom prst="rect">
            <a:avLst/>
          </a:prstGeom>
          <a:noFill/>
        </p:spPr>
        <p:txBody>
          <a:bodyPr wrap="square" rtlCol="0">
            <a:spAutoFit/>
          </a:bodyPr>
          <a:lstStyle/>
          <a:p>
            <a:r>
              <a:rPr lang="en-IN" sz="1600" dirty="0"/>
              <a:t>We created a bubble chart to see which City performed better with the Population Growth.</a:t>
            </a:r>
          </a:p>
        </p:txBody>
      </p:sp>
      <p:pic>
        <p:nvPicPr>
          <p:cNvPr id="5" name="Picture 4">
            <a:extLst>
              <a:ext uri="{FF2B5EF4-FFF2-40B4-BE49-F238E27FC236}">
                <a16:creationId xmlns:a16="http://schemas.microsoft.com/office/drawing/2014/main" id="{6E2635F3-33AF-33E0-2FF6-B56E2A13DCB1}"/>
              </a:ext>
            </a:extLst>
          </p:cNvPr>
          <p:cNvPicPr>
            <a:picLocks noChangeAspect="1"/>
          </p:cNvPicPr>
          <p:nvPr/>
        </p:nvPicPr>
        <p:blipFill>
          <a:blip r:embed="rId3"/>
          <a:stretch>
            <a:fillRect/>
          </a:stretch>
        </p:blipFill>
        <p:spPr>
          <a:xfrm>
            <a:off x="2337872" y="1560385"/>
            <a:ext cx="7382905" cy="4906060"/>
          </a:xfrm>
          <a:prstGeom prst="rect">
            <a:avLst/>
          </a:prstGeom>
        </p:spPr>
      </p:pic>
    </p:spTree>
    <p:extLst>
      <p:ext uri="{BB962C8B-B14F-4D97-AF65-F5344CB8AC3E}">
        <p14:creationId xmlns:p14="http://schemas.microsoft.com/office/powerpoint/2010/main" val="2477069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A413C-18D2-FE70-3747-663F1D9B8B80}"/>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E1A2EC53-F220-A559-150B-8BEC7A300D5F}"/>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A8842B73-A4EB-742C-85C6-9134A5F2DB62}"/>
              </a:ext>
            </a:extLst>
          </p:cNvPr>
          <p:cNvSpPr txBox="1">
            <a:spLocks/>
          </p:cNvSpPr>
          <p:nvPr/>
        </p:nvSpPr>
        <p:spPr>
          <a:xfrm>
            <a:off x="319038" y="285989"/>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EDA &amp; Data Analysis </a:t>
            </a:r>
            <a:r>
              <a:rPr lang="en-IN" sz="2400" b="0" dirty="0"/>
              <a:t>(cont..)</a:t>
            </a:r>
            <a:endParaRPr lang="en-IN" dirty="0"/>
          </a:p>
        </p:txBody>
      </p:sp>
      <p:sp>
        <p:nvSpPr>
          <p:cNvPr id="7" name="TextBox 6">
            <a:extLst>
              <a:ext uri="{FF2B5EF4-FFF2-40B4-BE49-F238E27FC236}">
                <a16:creationId xmlns:a16="http://schemas.microsoft.com/office/drawing/2014/main" id="{7DD434DA-5A3F-D319-5B02-85BB9E35B60E}"/>
              </a:ext>
            </a:extLst>
          </p:cNvPr>
          <p:cNvSpPr txBox="1"/>
          <p:nvPr/>
        </p:nvSpPr>
        <p:spPr>
          <a:xfrm>
            <a:off x="319038" y="923187"/>
            <a:ext cx="10749684" cy="338554"/>
          </a:xfrm>
          <a:prstGeom prst="rect">
            <a:avLst/>
          </a:prstGeom>
          <a:noFill/>
        </p:spPr>
        <p:txBody>
          <a:bodyPr wrap="square" rtlCol="0">
            <a:spAutoFit/>
          </a:bodyPr>
          <a:lstStyle/>
          <a:p>
            <a:r>
              <a:rPr lang="en-IN" sz="1600" dirty="0"/>
              <a:t>We can also find which Health Authority is having Higher wait times.</a:t>
            </a:r>
          </a:p>
        </p:txBody>
      </p:sp>
      <p:pic>
        <p:nvPicPr>
          <p:cNvPr id="6" name="Picture 5">
            <a:extLst>
              <a:ext uri="{FF2B5EF4-FFF2-40B4-BE49-F238E27FC236}">
                <a16:creationId xmlns:a16="http://schemas.microsoft.com/office/drawing/2014/main" id="{03CE700B-FECA-6B43-2038-9FE81CC42B79}"/>
              </a:ext>
            </a:extLst>
          </p:cNvPr>
          <p:cNvPicPr>
            <a:picLocks noChangeAspect="1"/>
          </p:cNvPicPr>
          <p:nvPr/>
        </p:nvPicPr>
        <p:blipFill>
          <a:blip r:embed="rId3"/>
          <a:stretch>
            <a:fillRect/>
          </a:stretch>
        </p:blipFill>
        <p:spPr>
          <a:xfrm>
            <a:off x="694837" y="1333198"/>
            <a:ext cx="4391513" cy="2716277"/>
          </a:xfrm>
          <a:prstGeom prst="rect">
            <a:avLst/>
          </a:prstGeom>
        </p:spPr>
      </p:pic>
      <p:pic>
        <p:nvPicPr>
          <p:cNvPr id="9" name="Picture 8">
            <a:extLst>
              <a:ext uri="{FF2B5EF4-FFF2-40B4-BE49-F238E27FC236}">
                <a16:creationId xmlns:a16="http://schemas.microsoft.com/office/drawing/2014/main" id="{579D71E9-04F1-B70E-DE93-25A1522A239A}"/>
              </a:ext>
            </a:extLst>
          </p:cNvPr>
          <p:cNvPicPr>
            <a:picLocks noChangeAspect="1"/>
          </p:cNvPicPr>
          <p:nvPr/>
        </p:nvPicPr>
        <p:blipFill>
          <a:blip r:embed="rId4"/>
          <a:stretch>
            <a:fillRect/>
          </a:stretch>
        </p:blipFill>
        <p:spPr>
          <a:xfrm>
            <a:off x="6096000" y="3143011"/>
            <a:ext cx="5695950" cy="3600710"/>
          </a:xfrm>
          <a:prstGeom prst="rect">
            <a:avLst/>
          </a:prstGeom>
        </p:spPr>
      </p:pic>
      <p:sp>
        <p:nvSpPr>
          <p:cNvPr id="10" name="TextBox 9">
            <a:extLst>
              <a:ext uri="{FF2B5EF4-FFF2-40B4-BE49-F238E27FC236}">
                <a16:creationId xmlns:a16="http://schemas.microsoft.com/office/drawing/2014/main" id="{33DFA666-720E-F41C-2AEB-BEE21813D1AE}"/>
              </a:ext>
            </a:extLst>
          </p:cNvPr>
          <p:cNvSpPr txBox="1"/>
          <p:nvPr/>
        </p:nvSpPr>
        <p:spPr>
          <a:xfrm>
            <a:off x="5833829" y="2104656"/>
            <a:ext cx="6129571" cy="830997"/>
          </a:xfrm>
          <a:prstGeom prst="rect">
            <a:avLst/>
          </a:prstGeom>
          <a:noFill/>
        </p:spPr>
        <p:txBody>
          <a:bodyPr wrap="square" rtlCol="0">
            <a:spAutoFit/>
          </a:bodyPr>
          <a:lstStyle/>
          <a:p>
            <a:r>
              <a:rPr lang="en-IN" sz="1600" dirty="0"/>
              <a:t>Though it shows Fraser Health and Vancouver Costal has higher wait times, we know that they are areas with larger population. So we need to Standardize the population served to derive the right data.</a:t>
            </a:r>
          </a:p>
        </p:txBody>
      </p:sp>
    </p:spTree>
    <p:extLst>
      <p:ext uri="{BB962C8B-B14F-4D97-AF65-F5344CB8AC3E}">
        <p14:creationId xmlns:p14="http://schemas.microsoft.com/office/powerpoint/2010/main" val="1746539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CF2D-3D7A-BA37-F37D-4AACC87132BC}"/>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DF6AFAE3-3BDA-0922-F737-CDE969E7938B}"/>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D7D187B7-6F90-9075-4489-E59854F754D4}"/>
              </a:ext>
            </a:extLst>
          </p:cNvPr>
          <p:cNvSpPr txBox="1">
            <a:spLocks/>
          </p:cNvSpPr>
          <p:nvPr/>
        </p:nvSpPr>
        <p:spPr>
          <a:xfrm>
            <a:off x="319038" y="285989"/>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EDA &amp; Data Analysis </a:t>
            </a:r>
            <a:r>
              <a:rPr lang="en-IN" sz="2400" b="0" dirty="0"/>
              <a:t>(cont..)</a:t>
            </a:r>
            <a:endParaRPr lang="en-IN" dirty="0"/>
          </a:p>
        </p:txBody>
      </p:sp>
      <p:sp>
        <p:nvSpPr>
          <p:cNvPr id="7" name="TextBox 6">
            <a:extLst>
              <a:ext uri="{FF2B5EF4-FFF2-40B4-BE49-F238E27FC236}">
                <a16:creationId xmlns:a16="http://schemas.microsoft.com/office/drawing/2014/main" id="{639305EE-C172-5FCB-E473-34B34CBAA2E7}"/>
              </a:ext>
            </a:extLst>
          </p:cNvPr>
          <p:cNvSpPr txBox="1"/>
          <p:nvPr/>
        </p:nvSpPr>
        <p:spPr>
          <a:xfrm>
            <a:off x="319038" y="923187"/>
            <a:ext cx="10749684" cy="584775"/>
          </a:xfrm>
          <a:prstGeom prst="rect">
            <a:avLst/>
          </a:prstGeom>
          <a:noFill/>
        </p:spPr>
        <p:txBody>
          <a:bodyPr wrap="square" rtlCol="0">
            <a:spAutoFit/>
          </a:bodyPr>
          <a:lstStyle/>
          <a:p>
            <a:r>
              <a:rPr lang="en-IN" sz="1600" dirty="0"/>
              <a:t>From Previous analysis we have the top 5 cities with more wait time. To dig deeper we can find out which Procedures are causing more wait times.</a:t>
            </a:r>
          </a:p>
        </p:txBody>
      </p:sp>
      <p:pic>
        <p:nvPicPr>
          <p:cNvPr id="6" name="Picture 5">
            <a:extLst>
              <a:ext uri="{FF2B5EF4-FFF2-40B4-BE49-F238E27FC236}">
                <a16:creationId xmlns:a16="http://schemas.microsoft.com/office/drawing/2014/main" id="{F08F0935-7F36-1515-5F6B-837C91E2D20E}"/>
              </a:ext>
            </a:extLst>
          </p:cNvPr>
          <p:cNvPicPr>
            <a:picLocks noChangeAspect="1"/>
          </p:cNvPicPr>
          <p:nvPr/>
        </p:nvPicPr>
        <p:blipFill>
          <a:blip r:embed="rId3"/>
          <a:stretch>
            <a:fillRect/>
          </a:stretch>
        </p:blipFill>
        <p:spPr>
          <a:xfrm>
            <a:off x="1980618" y="1560385"/>
            <a:ext cx="7172908" cy="4921139"/>
          </a:xfrm>
          <a:prstGeom prst="rect">
            <a:avLst/>
          </a:prstGeom>
        </p:spPr>
      </p:pic>
    </p:spTree>
    <p:extLst>
      <p:ext uri="{BB962C8B-B14F-4D97-AF65-F5344CB8AC3E}">
        <p14:creationId xmlns:p14="http://schemas.microsoft.com/office/powerpoint/2010/main" val="978774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C3502-1E8E-40C8-5C3E-3F6B8414C7ED}"/>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7AC90033-6CF5-6EC4-1D7F-E2FC42B4F687}"/>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E29DEAB8-D70A-E43C-D781-3ED7528E9027}"/>
              </a:ext>
            </a:extLst>
          </p:cNvPr>
          <p:cNvSpPr txBox="1">
            <a:spLocks/>
          </p:cNvSpPr>
          <p:nvPr/>
        </p:nvSpPr>
        <p:spPr>
          <a:xfrm>
            <a:off x="3966874" y="315100"/>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Insights</a:t>
            </a:r>
          </a:p>
        </p:txBody>
      </p:sp>
      <p:sp>
        <p:nvSpPr>
          <p:cNvPr id="4" name="TextBox 3">
            <a:extLst>
              <a:ext uri="{FF2B5EF4-FFF2-40B4-BE49-F238E27FC236}">
                <a16:creationId xmlns:a16="http://schemas.microsoft.com/office/drawing/2014/main" id="{0893A558-F267-7955-B236-89F9BFEED762}"/>
              </a:ext>
            </a:extLst>
          </p:cNvPr>
          <p:cNvSpPr txBox="1"/>
          <p:nvPr/>
        </p:nvSpPr>
        <p:spPr>
          <a:xfrm>
            <a:off x="4177890" y="2278978"/>
            <a:ext cx="7237038" cy="2862322"/>
          </a:xfrm>
          <a:prstGeom prst="rect">
            <a:avLst/>
          </a:prstGeom>
          <a:noFill/>
        </p:spPr>
        <p:txBody>
          <a:bodyPr wrap="square" rtlCol="0">
            <a:spAutoFit/>
          </a:bodyPr>
          <a:lstStyle/>
          <a:p>
            <a:r>
              <a:rPr lang="en-IN" b="1" u="sng" dirty="0"/>
              <a:t>Population: </a:t>
            </a:r>
          </a:p>
          <a:p>
            <a:endParaRPr lang="en-IN" dirty="0"/>
          </a:p>
          <a:p>
            <a:r>
              <a:rPr lang="en-IN" dirty="0"/>
              <a:t>Population Growth is NOT </a:t>
            </a:r>
            <a:r>
              <a:rPr lang="en-US" dirty="0"/>
              <a:t>the primary driver of changes in wait times</a:t>
            </a:r>
            <a:r>
              <a:rPr lang="en-IN" dirty="0"/>
              <a:t>.</a:t>
            </a:r>
          </a:p>
          <a:p>
            <a:endParaRPr lang="en-IN" dirty="0"/>
          </a:p>
          <a:p>
            <a:r>
              <a:rPr lang="en-IN" dirty="0"/>
              <a:t>2017 and 2023 shows the Population growth and wait times move in opposite directions.</a:t>
            </a:r>
          </a:p>
          <a:p>
            <a:endParaRPr lang="en-IN" dirty="0"/>
          </a:p>
          <a:p>
            <a:r>
              <a:rPr lang="en-IN" dirty="0"/>
              <a:t>2020-2021 which is the COVID-19 period shows chaotic change in the Wait times which is an outlier.</a:t>
            </a:r>
          </a:p>
          <a:p>
            <a:endParaRPr lang="en-IN" dirty="0"/>
          </a:p>
        </p:txBody>
      </p:sp>
      <p:grpSp>
        <p:nvGrpSpPr>
          <p:cNvPr id="5" name="Group 4">
            <a:extLst>
              <a:ext uri="{FF2B5EF4-FFF2-40B4-BE49-F238E27FC236}">
                <a16:creationId xmlns:a16="http://schemas.microsoft.com/office/drawing/2014/main" id="{E586FF17-0ABE-1301-AFF0-F0436EA884FE}"/>
              </a:ext>
            </a:extLst>
          </p:cNvPr>
          <p:cNvGrpSpPr/>
          <p:nvPr/>
        </p:nvGrpSpPr>
        <p:grpSpPr>
          <a:xfrm>
            <a:off x="-3061536" y="511629"/>
            <a:ext cx="6123071" cy="6096000"/>
            <a:chOff x="2925608" y="381000"/>
            <a:chExt cx="6123071" cy="6096000"/>
          </a:xfrm>
        </p:grpSpPr>
        <p:sp>
          <p:nvSpPr>
            <p:cNvPr id="7" name="Circle: Hollow 6">
              <a:extLst>
                <a:ext uri="{FF2B5EF4-FFF2-40B4-BE49-F238E27FC236}">
                  <a16:creationId xmlns:a16="http://schemas.microsoft.com/office/drawing/2014/main" id="{D9F71BA8-5441-80A8-8108-78D0F7448A0A}"/>
                </a:ext>
              </a:extLst>
            </p:cNvPr>
            <p:cNvSpPr/>
            <p:nvPr/>
          </p:nvSpPr>
          <p:spPr>
            <a:xfrm>
              <a:off x="3258458" y="736600"/>
              <a:ext cx="5384800" cy="5384800"/>
            </a:xfrm>
            <a:prstGeom prst="donut">
              <a:avLst>
                <a:gd name="adj" fmla="val 1150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Oval 8">
              <a:extLst>
                <a:ext uri="{FF2B5EF4-FFF2-40B4-BE49-F238E27FC236}">
                  <a16:creationId xmlns:a16="http://schemas.microsoft.com/office/drawing/2014/main" id="{BFB28D63-E3DF-8B06-8D29-0FE1B46339DC}"/>
                </a:ext>
              </a:extLst>
            </p:cNvPr>
            <p:cNvSpPr/>
            <p:nvPr/>
          </p:nvSpPr>
          <p:spPr>
            <a:xfrm>
              <a:off x="5448000" y="3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CE70BEEE-310C-3318-7DC7-75178D056EA0}"/>
                </a:ext>
              </a:extLst>
            </p:cNvPr>
            <p:cNvSpPr/>
            <p:nvPr/>
          </p:nvSpPr>
          <p:spPr>
            <a:xfrm>
              <a:off x="5448000" y="51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9F64652E-3ABA-4D48-302D-8D3E778B2342}"/>
                </a:ext>
              </a:extLst>
            </p:cNvPr>
            <p:cNvSpPr/>
            <p:nvPr/>
          </p:nvSpPr>
          <p:spPr>
            <a:xfrm>
              <a:off x="7752679" y="27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B6CBBB8D-DB6F-E3A6-830B-66092C46D976}"/>
                </a:ext>
              </a:extLst>
            </p:cNvPr>
            <p:cNvSpPr/>
            <p:nvPr/>
          </p:nvSpPr>
          <p:spPr>
            <a:xfrm>
              <a:off x="2925608" y="27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descr="A group of blue people">
              <a:extLst>
                <a:ext uri="{FF2B5EF4-FFF2-40B4-BE49-F238E27FC236}">
                  <a16:creationId xmlns:a16="http://schemas.microsoft.com/office/drawing/2014/main" id="{AAA03CE2-775D-C9D9-BC4C-D472B7CDBA17}"/>
                </a:ext>
              </a:extLst>
            </p:cNvPr>
            <p:cNvPicPr>
              <a:picLocks noChangeAspect="1"/>
            </p:cNvPicPr>
            <p:nvPr/>
          </p:nvPicPr>
          <p:blipFill>
            <a:blip r:embed="rId3"/>
            <a:stretch>
              <a:fillRect/>
            </a:stretch>
          </p:blipFill>
          <p:spPr>
            <a:xfrm>
              <a:off x="7752679" y="2781000"/>
              <a:ext cx="1296000" cy="1296000"/>
            </a:xfrm>
            <a:prstGeom prst="rect">
              <a:avLst/>
            </a:prstGeom>
          </p:spPr>
        </p:pic>
        <p:pic>
          <p:nvPicPr>
            <p:cNvPr id="23" name="Picture 22" descr="A hand holding a battery&#10;&#10;AI-generated content may be incorrect.">
              <a:extLst>
                <a:ext uri="{FF2B5EF4-FFF2-40B4-BE49-F238E27FC236}">
                  <a16:creationId xmlns:a16="http://schemas.microsoft.com/office/drawing/2014/main" id="{8BCE5229-8418-34DC-3D0E-D515CB120418}"/>
                </a:ext>
              </a:extLst>
            </p:cNvPr>
            <p:cNvPicPr>
              <a:picLocks noChangeAspect="1"/>
            </p:cNvPicPr>
            <p:nvPr/>
          </p:nvPicPr>
          <p:blipFill>
            <a:blip r:embed="rId4"/>
            <a:stretch>
              <a:fillRect/>
            </a:stretch>
          </p:blipFill>
          <p:spPr>
            <a:xfrm rot="16200000">
              <a:off x="5610675" y="543675"/>
              <a:ext cx="970649" cy="970649"/>
            </a:xfrm>
            <a:prstGeom prst="rect">
              <a:avLst/>
            </a:prstGeom>
          </p:spPr>
        </p:pic>
        <p:pic>
          <p:nvPicPr>
            <p:cNvPr id="24" name="Picture 23" descr="A hands holding a shield with a cross&#10;&#10;AI-generated content may be incorrect.">
              <a:extLst>
                <a:ext uri="{FF2B5EF4-FFF2-40B4-BE49-F238E27FC236}">
                  <a16:creationId xmlns:a16="http://schemas.microsoft.com/office/drawing/2014/main" id="{20CCF314-55C3-7BE7-5568-E717DD2569DB}"/>
                </a:ext>
              </a:extLst>
            </p:cNvPr>
            <p:cNvPicPr>
              <a:picLocks noChangeAspect="1"/>
            </p:cNvPicPr>
            <p:nvPr/>
          </p:nvPicPr>
          <p:blipFill>
            <a:blip r:embed="rId5"/>
            <a:stretch>
              <a:fillRect/>
            </a:stretch>
          </p:blipFill>
          <p:spPr>
            <a:xfrm rot="10800000">
              <a:off x="3136658" y="2992050"/>
              <a:ext cx="873900" cy="873900"/>
            </a:xfrm>
            <a:prstGeom prst="rect">
              <a:avLst/>
            </a:prstGeom>
          </p:spPr>
        </p:pic>
        <p:pic>
          <p:nvPicPr>
            <p:cNvPr id="25" name="Picture 24" descr="A cartoon of buildings and trees&#10;&#10;AI-generated content may be incorrect.">
              <a:extLst>
                <a:ext uri="{FF2B5EF4-FFF2-40B4-BE49-F238E27FC236}">
                  <a16:creationId xmlns:a16="http://schemas.microsoft.com/office/drawing/2014/main" id="{9CC9CF7D-88DB-7298-9973-1445D7861052}"/>
                </a:ext>
              </a:extLst>
            </p:cNvPr>
            <p:cNvPicPr>
              <a:picLocks noChangeAspect="1"/>
            </p:cNvPicPr>
            <p:nvPr/>
          </p:nvPicPr>
          <p:blipFill>
            <a:blip r:embed="rId6"/>
            <a:stretch>
              <a:fillRect/>
            </a:stretch>
          </p:blipFill>
          <p:spPr>
            <a:xfrm rot="5400000">
              <a:off x="5620020" y="5362367"/>
              <a:ext cx="951958" cy="951958"/>
            </a:xfrm>
            <a:prstGeom prst="rect">
              <a:avLst/>
            </a:prstGeom>
          </p:spPr>
        </p:pic>
      </p:grpSp>
      <p:sp>
        <p:nvSpPr>
          <p:cNvPr id="26" name="TextBox 25">
            <a:extLst>
              <a:ext uri="{FF2B5EF4-FFF2-40B4-BE49-F238E27FC236}">
                <a16:creationId xmlns:a16="http://schemas.microsoft.com/office/drawing/2014/main" id="{1559DFB6-B6C3-891D-2EC1-39091EFF6628}"/>
              </a:ext>
            </a:extLst>
          </p:cNvPr>
          <p:cNvSpPr txBox="1"/>
          <p:nvPr/>
        </p:nvSpPr>
        <p:spPr>
          <a:xfrm>
            <a:off x="4177890" y="7403428"/>
            <a:ext cx="7237038" cy="3693319"/>
          </a:xfrm>
          <a:prstGeom prst="rect">
            <a:avLst/>
          </a:prstGeom>
          <a:noFill/>
        </p:spPr>
        <p:txBody>
          <a:bodyPr wrap="square" rtlCol="0">
            <a:spAutoFit/>
          </a:bodyPr>
          <a:lstStyle/>
          <a:p>
            <a:r>
              <a:rPr lang="en-IN" b="1" u="sng" dirty="0"/>
              <a:t>Cities: </a:t>
            </a:r>
          </a:p>
          <a:p>
            <a:br>
              <a:rPr lang="en-IN" dirty="0"/>
            </a:br>
            <a:r>
              <a:rPr lang="en-IN" dirty="0"/>
              <a:t>Squamish, Langley and </a:t>
            </a:r>
            <a:r>
              <a:rPr lang="en-IN" dirty="0" err="1"/>
              <a:t>Fernie</a:t>
            </a:r>
            <a:r>
              <a:rPr lang="en-IN" dirty="0"/>
              <a:t> are performing better even with higher Average population growth. </a:t>
            </a:r>
          </a:p>
          <a:p>
            <a:endParaRPr lang="en-IN" dirty="0"/>
          </a:p>
          <a:p>
            <a:r>
              <a:rPr lang="en-IN" dirty="0"/>
              <a:t>Amstrong has a lot to improve with wait times.</a:t>
            </a:r>
          </a:p>
          <a:p>
            <a:endParaRPr lang="en-IN" dirty="0"/>
          </a:p>
          <a:p>
            <a:r>
              <a:rPr lang="en-IN" dirty="0"/>
              <a:t>While Vancouver is doing pretty good staying in the middle even when performing the highest number of surgeries. </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4274024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72094-120F-71E7-76BF-B0482383ED24}"/>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AE3B6848-BAE4-9879-AECC-9562F7BA89F2}"/>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D6CF0267-E5AB-5CD9-7FF3-2FFBA70BD156}"/>
              </a:ext>
            </a:extLst>
          </p:cNvPr>
          <p:cNvSpPr txBox="1">
            <a:spLocks/>
          </p:cNvSpPr>
          <p:nvPr/>
        </p:nvSpPr>
        <p:spPr>
          <a:xfrm>
            <a:off x="3966874" y="315100"/>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Insights</a:t>
            </a:r>
          </a:p>
        </p:txBody>
      </p:sp>
      <p:sp>
        <p:nvSpPr>
          <p:cNvPr id="4" name="TextBox 3">
            <a:extLst>
              <a:ext uri="{FF2B5EF4-FFF2-40B4-BE49-F238E27FC236}">
                <a16:creationId xmlns:a16="http://schemas.microsoft.com/office/drawing/2014/main" id="{58028B1D-F278-38E5-CE11-15D521D95556}"/>
              </a:ext>
            </a:extLst>
          </p:cNvPr>
          <p:cNvSpPr txBox="1"/>
          <p:nvPr/>
        </p:nvSpPr>
        <p:spPr>
          <a:xfrm>
            <a:off x="4177890" y="2278978"/>
            <a:ext cx="7237038" cy="3693319"/>
          </a:xfrm>
          <a:prstGeom prst="rect">
            <a:avLst/>
          </a:prstGeom>
          <a:noFill/>
        </p:spPr>
        <p:txBody>
          <a:bodyPr wrap="square" rtlCol="0">
            <a:spAutoFit/>
          </a:bodyPr>
          <a:lstStyle/>
          <a:p>
            <a:r>
              <a:rPr lang="en-IN" b="1" u="sng" dirty="0"/>
              <a:t>Cities: </a:t>
            </a:r>
          </a:p>
          <a:p>
            <a:br>
              <a:rPr lang="en-IN" dirty="0"/>
            </a:br>
            <a:r>
              <a:rPr lang="en-IN" dirty="0"/>
              <a:t>Squamish, Langley and </a:t>
            </a:r>
            <a:r>
              <a:rPr lang="en-IN" dirty="0" err="1"/>
              <a:t>Fernie</a:t>
            </a:r>
            <a:r>
              <a:rPr lang="en-IN" dirty="0"/>
              <a:t> are performing better even with higher Average population growth. </a:t>
            </a:r>
          </a:p>
          <a:p>
            <a:endParaRPr lang="en-IN" dirty="0"/>
          </a:p>
          <a:p>
            <a:r>
              <a:rPr lang="en-IN" dirty="0"/>
              <a:t>Amstrong has a lot to improve with wait times.</a:t>
            </a:r>
          </a:p>
          <a:p>
            <a:endParaRPr lang="en-IN" dirty="0"/>
          </a:p>
          <a:p>
            <a:r>
              <a:rPr lang="en-IN" dirty="0"/>
              <a:t>While Vancouver is doing pretty good staying in the middle even when performing the highest number of surgeries. </a:t>
            </a:r>
          </a:p>
          <a:p>
            <a:endParaRPr lang="en-IN" dirty="0"/>
          </a:p>
          <a:p>
            <a:endParaRPr lang="en-IN" dirty="0"/>
          </a:p>
          <a:p>
            <a:endParaRPr lang="en-IN" dirty="0"/>
          </a:p>
          <a:p>
            <a:endParaRPr lang="en-IN" dirty="0"/>
          </a:p>
        </p:txBody>
      </p:sp>
      <p:grpSp>
        <p:nvGrpSpPr>
          <p:cNvPr id="5" name="Group 4">
            <a:extLst>
              <a:ext uri="{FF2B5EF4-FFF2-40B4-BE49-F238E27FC236}">
                <a16:creationId xmlns:a16="http://schemas.microsoft.com/office/drawing/2014/main" id="{31D41F2E-5550-D8FC-E435-5C50E5881F7B}"/>
              </a:ext>
            </a:extLst>
          </p:cNvPr>
          <p:cNvGrpSpPr/>
          <p:nvPr/>
        </p:nvGrpSpPr>
        <p:grpSpPr>
          <a:xfrm rot="16200000">
            <a:off x="-3061536" y="511629"/>
            <a:ext cx="6123071" cy="6096000"/>
            <a:chOff x="2925608" y="381000"/>
            <a:chExt cx="6123071" cy="6096000"/>
          </a:xfrm>
        </p:grpSpPr>
        <p:sp>
          <p:nvSpPr>
            <p:cNvPr id="7" name="Circle: Hollow 6">
              <a:extLst>
                <a:ext uri="{FF2B5EF4-FFF2-40B4-BE49-F238E27FC236}">
                  <a16:creationId xmlns:a16="http://schemas.microsoft.com/office/drawing/2014/main" id="{88F5C9FE-7ACB-431F-FEC1-5C3C6749E7F7}"/>
                </a:ext>
              </a:extLst>
            </p:cNvPr>
            <p:cNvSpPr/>
            <p:nvPr/>
          </p:nvSpPr>
          <p:spPr>
            <a:xfrm>
              <a:off x="3258458" y="736600"/>
              <a:ext cx="5384800" cy="5384800"/>
            </a:xfrm>
            <a:prstGeom prst="donut">
              <a:avLst>
                <a:gd name="adj" fmla="val 1150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Oval 8">
              <a:extLst>
                <a:ext uri="{FF2B5EF4-FFF2-40B4-BE49-F238E27FC236}">
                  <a16:creationId xmlns:a16="http://schemas.microsoft.com/office/drawing/2014/main" id="{FCDD726F-DB29-5A59-C201-29E0E1342318}"/>
                </a:ext>
              </a:extLst>
            </p:cNvPr>
            <p:cNvSpPr/>
            <p:nvPr/>
          </p:nvSpPr>
          <p:spPr>
            <a:xfrm>
              <a:off x="5448000" y="3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498BACAE-771A-A94D-97EC-BAC7EFC3B900}"/>
                </a:ext>
              </a:extLst>
            </p:cNvPr>
            <p:cNvSpPr/>
            <p:nvPr/>
          </p:nvSpPr>
          <p:spPr>
            <a:xfrm>
              <a:off x="5448000" y="51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D860CD09-C277-B471-6667-4884822555FE}"/>
                </a:ext>
              </a:extLst>
            </p:cNvPr>
            <p:cNvSpPr/>
            <p:nvPr/>
          </p:nvSpPr>
          <p:spPr>
            <a:xfrm>
              <a:off x="7752679" y="27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1D8F9932-5042-AA1F-F895-BD48D9CA8965}"/>
                </a:ext>
              </a:extLst>
            </p:cNvPr>
            <p:cNvSpPr/>
            <p:nvPr/>
          </p:nvSpPr>
          <p:spPr>
            <a:xfrm>
              <a:off x="2925608" y="27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descr="A group of blue people">
              <a:extLst>
                <a:ext uri="{FF2B5EF4-FFF2-40B4-BE49-F238E27FC236}">
                  <a16:creationId xmlns:a16="http://schemas.microsoft.com/office/drawing/2014/main" id="{02CA53D8-7160-F9DE-EE56-D842B7FA8196}"/>
                </a:ext>
              </a:extLst>
            </p:cNvPr>
            <p:cNvPicPr>
              <a:picLocks noChangeAspect="1"/>
            </p:cNvPicPr>
            <p:nvPr/>
          </p:nvPicPr>
          <p:blipFill>
            <a:blip r:embed="rId3"/>
            <a:stretch>
              <a:fillRect/>
            </a:stretch>
          </p:blipFill>
          <p:spPr>
            <a:xfrm>
              <a:off x="7752679" y="2781000"/>
              <a:ext cx="1296000" cy="1296000"/>
            </a:xfrm>
            <a:prstGeom prst="rect">
              <a:avLst/>
            </a:prstGeom>
          </p:spPr>
        </p:pic>
        <p:pic>
          <p:nvPicPr>
            <p:cNvPr id="23" name="Picture 22" descr="A hand holding a battery&#10;&#10;AI-generated content may be incorrect.">
              <a:extLst>
                <a:ext uri="{FF2B5EF4-FFF2-40B4-BE49-F238E27FC236}">
                  <a16:creationId xmlns:a16="http://schemas.microsoft.com/office/drawing/2014/main" id="{9DD78AE4-5B54-C315-BF2F-B10F78FE003B}"/>
                </a:ext>
              </a:extLst>
            </p:cNvPr>
            <p:cNvPicPr>
              <a:picLocks noChangeAspect="1"/>
            </p:cNvPicPr>
            <p:nvPr/>
          </p:nvPicPr>
          <p:blipFill>
            <a:blip r:embed="rId4"/>
            <a:stretch>
              <a:fillRect/>
            </a:stretch>
          </p:blipFill>
          <p:spPr>
            <a:xfrm rot="16200000">
              <a:off x="5610675" y="543675"/>
              <a:ext cx="970649" cy="970649"/>
            </a:xfrm>
            <a:prstGeom prst="rect">
              <a:avLst/>
            </a:prstGeom>
          </p:spPr>
        </p:pic>
        <p:pic>
          <p:nvPicPr>
            <p:cNvPr id="24" name="Picture 23" descr="A hands holding a shield with a cross&#10;&#10;AI-generated content may be incorrect.">
              <a:extLst>
                <a:ext uri="{FF2B5EF4-FFF2-40B4-BE49-F238E27FC236}">
                  <a16:creationId xmlns:a16="http://schemas.microsoft.com/office/drawing/2014/main" id="{A7CEBE87-0A7A-BC65-C037-D3411445198B}"/>
                </a:ext>
              </a:extLst>
            </p:cNvPr>
            <p:cNvPicPr>
              <a:picLocks noChangeAspect="1"/>
            </p:cNvPicPr>
            <p:nvPr/>
          </p:nvPicPr>
          <p:blipFill>
            <a:blip r:embed="rId5"/>
            <a:stretch>
              <a:fillRect/>
            </a:stretch>
          </p:blipFill>
          <p:spPr>
            <a:xfrm rot="10800000">
              <a:off x="3136658" y="2992050"/>
              <a:ext cx="873900" cy="873900"/>
            </a:xfrm>
            <a:prstGeom prst="rect">
              <a:avLst/>
            </a:prstGeom>
          </p:spPr>
        </p:pic>
        <p:pic>
          <p:nvPicPr>
            <p:cNvPr id="25" name="Picture 24" descr="A cartoon of buildings and trees&#10;&#10;AI-generated content may be incorrect.">
              <a:extLst>
                <a:ext uri="{FF2B5EF4-FFF2-40B4-BE49-F238E27FC236}">
                  <a16:creationId xmlns:a16="http://schemas.microsoft.com/office/drawing/2014/main" id="{5F3B5A47-3191-398B-9D39-7939A310DAC2}"/>
                </a:ext>
              </a:extLst>
            </p:cNvPr>
            <p:cNvPicPr>
              <a:picLocks noChangeAspect="1"/>
            </p:cNvPicPr>
            <p:nvPr/>
          </p:nvPicPr>
          <p:blipFill>
            <a:blip r:embed="rId6"/>
            <a:stretch>
              <a:fillRect/>
            </a:stretch>
          </p:blipFill>
          <p:spPr>
            <a:xfrm rot="5400000">
              <a:off x="5620020" y="5362367"/>
              <a:ext cx="951958" cy="951958"/>
            </a:xfrm>
            <a:prstGeom prst="rect">
              <a:avLst/>
            </a:prstGeom>
          </p:spPr>
        </p:pic>
      </p:grpSp>
      <p:sp>
        <p:nvSpPr>
          <p:cNvPr id="6" name="TextBox 5">
            <a:extLst>
              <a:ext uri="{FF2B5EF4-FFF2-40B4-BE49-F238E27FC236}">
                <a16:creationId xmlns:a16="http://schemas.microsoft.com/office/drawing/2014/main" id="{A377AE52-DA5B-F1AD-40B5-9AEE45F0C5E7}"/>
              </a:ext>
            </a:extLst>
          </p:cNvPr>
          <p:cNvSpPr txBox="1"/>
          <p:nvPr/>
        </p:nvSpPr>
        <p:spPr>
          <a:xfrm>
            <a:off x="4177890" y="-3512222"/>
            <a:ext cx="7237038" cy="2862322"/>
          </a:xfrm>
          <a:prstGeom prst="rect">
            <a:avLst/>
          </a:prstGeom>
          <a:noFill/>
        </p:spPr>
        <p:txBody>
          <a:bodyPr wrap="square" rtlCol="0">
            <a:spAutoFit/>
          </a:bodyPr>
          <a:lstStyle/>
          <a:p>
            <a:r>
              <a:rPr lang="en-IN" b="1" u="sng" dirty="0"/>
              <a:t>Population: </a:t>
            </a:r>
          </a:p>
          <a:p>
            <a:endParaRPr lang="en-IN" dirty="0"/>
          </a:p>
          <a:p>
            <a:r>
              <a:rPr lang="en-IN" dirty="0"/>
              <a:t>Population Growth is NOT </a:t>
            </a:r>
            <a:r>
              <a:rPr lang="en-US" dirty="0"/>
              <a:t>the primary driver of changes in wait times</a:t>
            </a:r>
            <a:r>
              <a:rPr lang="en-IN" dirty="0"/>
              <a:t>.</a:t>
            </a:r>
          </a:p>
          <a:p>
            <a:endParaRPr lang="en-IN" dirty="0"/>
          </a:p>
          <a:p>
            <a:r>
              <a:rPr lang="en-IN" dirty="0"/>
              <a:t>2017 and 2023 shows the Population growth and wait times move in opposite directions.</a:t>
            </a:r>
          </a:p>
          <a:p>
            <a:endParaRPr lang="en-IN" dirty="0"/>
          </a:p>
          <a:p>
            <a:r>
              <a:rPr lang="en-IN" dirty="0"/>
              <a:t>2020-2021 which is the COVID-19 period shows chaotic change in the Wait times which is an outlier.</a:t>
            </a:r>
          </a:p>
          <a:p>
            <a:endParaRPr lang="en-IN" dirty="0"/>
          </a:p>
        </p:txBody>
      </p:sp>
      <p:sp>
        <p:nvSpPr>
          <p:cNvPr id="8" name="TextBox 7">
            <a:extLst>
              <a:ext uri="{FF2B5EF4-FFF2-40B4-BE49-F238E27FC236}">
                <a16:creationId xmlns:a16="http://schemas.microsoft.com/office/drawing/2014/main" id="{8E1DFC71-47D8-1433-2211-3037E1A3D9BB}"/>
              </a:ext>
            </a:extLst>
          </p:cNvPr>
          <p:cNvSpPr txBox="1"/>
          <p:nvPr/>
        </p:nvSpPr>
        <p:spPr>
          <a:xfrm>
            <a:off x="4177890" y="8165428"/>
            <a:ext cx="7237038" cy="1754326"/>
          </a:xfrm>
          <a:prstGeom prst="rect">
            <a:avLst/>
          </a:prstGeom>
          <a:noFill/>
        </p:spPr>
        <p:txBody>
          <a:bodyPr wrap="square" rtlCol="0">
            <a:spAutoFit/>
          </a:bodyPr>
          <a:lstStyle/>
          <a:p>
            <a:r>
              <a:rPr lang="en-IN" b="1" u="sng" dirty="0"/>
              <a:t>Health Authority: </a:t>
            </a:r>
          </a:p>
          <a:p>
            <a:endParaRPr lang="en-IN" dirty="0"/>
          </a:p>
          <a:p>
            <a:r>
              <a:rPr lang="en-IN" dirty="0"/>
              <a:t>Provincial health Service Authority is the top performer and Vancouver Island has scope of improving the wait times.</a:t>
            </a:r>
          </a:p>
          <a:p>
            <a:endParaRPr lang="en-IN" dirty="0"/>
          </a:p>
          <a:p>
            <a:endParaRPr lang="en-IN" dirty="0"/>
          </a:p>
        </p:txBody>
      </p:sp>
    </p:spTree>
    <p:extLst>
      <p:ext uri="{BB962C8B-B14F-4D97-AF65-F5344CB8AC3E}">
        <p14:creationId xmlns:p14="http://schemas.microsoft.com/office/powerpoint/2010/main" val="10171819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29A8C-6336-19F4-2AC7-D51825676E2A}"/>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CB41FF9C-25CB-2A73-FD8C-E3EDF31F5B43}"/>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3EDB71A3-EF1E-3B25-92CB-43EAE6A70A6A}"/>
              </a:ext>
            </a:extLst>
          </p:cNvPr>
          <p:cNvSpPr txBox="1">
            <a:spLocks/>
          </p:cNvSpPr>
          <p:nvPr/>
        </p:nvSpPr>
        <p:spPr>
          <a:xfrm>
            <a:off x="3966874" y="315100"/>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Insights</a:t>
            </a:r>
          </a:p>
        </p:txBody>
      </p:sp>
      <p:sp>
        <p:nvSpPr>
          <p:cNvPr id="4" name="TextBox 3">
            <a:extLst>
              <a:ext uri="{FF2B5EF4-FFF2-40B4-BE49-F238E27FC236}">
                <a16:creationId xmlns:a16="http://schemas.microsoft.com/office/drawing/2014/main" id="{3FB921F9-33C3-6B95-AF51-45140B113F6D}"/>
              </a:ext>
            </a:extLst>
          </p:cNvPr>
          <p:cNvSpPr txBox="1"/>
          <p:nvPr/>
        </p:nvSpPr>
        <p:spPr>
          <a:xfrm>
            <a:off x="4177890" y="2278978"/>
            <a:ext cx="7237038" cy="1754326"/>
          </a:xfrm>
          <a:prstGeom prst="rect">
            <a:avLst/>
          </a:prstGeom>
          <a:noFill/>
        </p:spPr>
        <p:txBody>
          <a:bodyPr wrap="square" rtlCol="0">
            <a:spAutoFit/>
          </a:bodyPr>
          <a:lstStyle/>
          <a:p>
            <a:r>
              <a:rPr lang="en-IN" b="1" u="sng" dirty="0"/>
              <a:t>Health Authority: </a:t>
            </a:r>
          </a:p>
          <a:p>
            <a:endParaRPr lang="en-IN" dirty="0"/>
          </a:p>
          <a:p>
            <a:r>
              <a:rPr lang="en-IN" dirty="0"/>
              <a:t>Provincial health Service Authority is the top performer and Vancouver Island has scope of improving the wait times.</a:t>
            </a:r>
          </a:p>
          <a:p>
            <a:endParaRPr lang="en-IN" dirty="0"/>
          </a:p>
          <a:p>
            <a:endParaRPr lang="en-IN" dirty="0"/>
          </a:p>
        </p:txBody>
      </p:sp>
      <p:grpSp>
        <p:nvGrpSpPr>
          <p:cNvPr id="5" name="Group 4">
            <a:extLst>
              <a:ext uri="{FF2B5EF4-FFF2-40B4-BE49-F238E27FC236}">
                <a16:creationId xmlns:a16="http://schemas.microsoft.com/office/drawing/2014/main" id="{DA60BE98-1B91-FE37-A498-E40018BED0F3}"/>
              </a:ext>
            </a:extLst>
          </p:cNvPr>
          <p:cNvGrpSpPr/>
          <p:nvPr/>
        </p:nvGrpSpPr>
        <p:grpSpPr>
          <a:xfrm rot="10800000">
            <a:off x="-3061536" y="511629"/>
            <a:ext cx="6123071" cy="6096000"/>
            <a:chOff x="2925608" y="381000"/>
            <a:chExt cx="6123071" cy="6096000"/>
          </a:xfrm>
        </p:grpSpPr>
        <p:sp>
          <p:nvSpPr>
            <p:cNvPr id="7" name="Circle: Hollow 6">
              <a:extLst>
                <a:ext uri="{FF2B5EF4-FFF2-40B4-BE49-F238E27FC236}">
                  <a16:creationId xmlns:a16="http://schemas.microsoft.com/office/drawing/2014/main" id="{364063C3-791C-337C-A550-61ECACA83296}"/>
                </a:ext>
              </a:extLst>
            </p:cNvPr>
            <p:cNvSpPr/>
            <p:nvPr/>
          </p:nvSpPr>
          <p:spPr>
            <a:xfrm>
              <a:off x="3258458" y="736600"/>
              <a:ext cx="5384800" cy="5384800"/>
            </a:xfrm>
            <a:prstGeom prst="donut">
              <a:avLst>
                <a:gd name="adj" fmla="val 1150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Oval 8">
              <a:extLst>
                <a:ext uri="{FF2B5EF4-FFF2-40B4-BE49-F238E27FC236}">
                  <a16:creationId xmlns:a16="http://schemas.microsoft.com/office/drawing/2014/main" id="{4DCF061B-7101-F9AE-C79B-BF0D0386A692}"/>
                </a:ext>
              </a:extLst>
            </p:cNvPr>
            <p:cNvSpPr/>
            <p:nvPr/>
          </p:nvSpPr>
          <p:spPr>
            <a:xfrm>
              <a:off x="5448000" y="3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BC20FA95-524E-364C-2AA3-A64D3F591B80}"/>
                </a:ext>
              </a:extLst>
            </p:cNvPr>
            <p:cNvSpPr/>
            <p:nvPr/>
          </p:nvSpPr>
          <p:spPr>
            <a:xfrm>
              <a:off x="5448000" y="51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BC2ABA62-AFC3-BA73-194E-9B0F162890BD}"/>
                </a:ext>
              </a:extLst>
            </p:cNvPr>
            <p:cNvSpPr/>
            <p:nvPr/>
          </p:nvSpPr>
          <p:spPr>
            <a:xfrm>
              <a:off x="7752679" y="27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804218A2-91A8-A564-556B-34B2AD5A81A7}"/>
                </a:ext>
              </a:extLst>
            </p:cNvPr>
            <p:cNvSpPr/>
            <p:nvPr/>
          </p:nvSpPr>
          <p:spPr>
            <a:xfrm>
              <a:off x="2925608" y="27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descr="A group of blue people">
              <a:extLst>
                <a:ext uri="{FF2B5EF4-FFF2-40B4-BE49-F238E27FC236}">
                  <a16:creationId xmlns:a16="http://schemas.microsoft.com/office/drawing/2014/main" id="{E5192FF3-D17C-52EB-249A-7B051D99D218}"/>
                </a:ext>
              </a:extLst>
            </p:cNvPr>
            <p:cNvPicPr>
              <a:picLocks noChangeAspect="1"/>
            </p:cNvPicPr>
            <p:nvPr/>
          </p:nvPicPr>
          <p:blipFill>
            <a:blip r:embed="rId3"/>
            <a:stretch>
              <a:fillRect/>
            </a:stretch>
          </p:blipFill>
          <p:spPr>
            <a:xfrm>
              <a:off x="7752679" y="2781000"/>
              <a:ext cx="1296000" cy="1296000"/>
            </a:xfrm>
            <a:prstGeom prst="rect">
              <a:avLst/>
            </a:prstGeom>
          </p:spPr>
        </p:pic>
        <p:pic>
          <p:nvPicPr>
            <p:cNvPr id="23" name="Picture 22" descr="A hand holding a battery&#10;&#10;AI-generated content may be incorrect.">
              <a:extLst>
                <a:ext uri="{FF2B5EF4-FFF2-40B4-BE49-F238E27FC236}">
                  <a16:creationId xmlns:a16="http://schemas.microsoft.com/office/drawing/2014/main" id="{79291D1A-DDE2-8A15-2A8B-0021004F0390}"/>
                </a:ext>
              </a:extLst>
            </p:cNvPr>
            <p:cNvPicPr>
              <a:picLocks noChangeAspect="1"/>
            </p:cNvPicPr>
            <p:nvPr/>
          </p:nvPicPr>
          <p:blipFill>
            <a:blip r:embed="rId4"/>
            <a:stretch>
              <a:fillRect/>
            </a:stretch>
          </p:blipFill>
          <p:spPr>
            <a:xfrm rot="16200000">
              <a:off x="5610675" y="543675"/>
              <a:ext cx="970649" cy="970649"/>
            </a:xfrm>
            <a:prstGeom prst="rect">
              <a:avLst/>
            </a:prstGeom>
          </p:spPr>
        </p:pic>
        <p:pic>
          <p:nvPicPr>
            <p:cNvPr id="24" name="Picture 23" descr="A hands holding a shield with a cross&#10;&#10;AI-generated content may be incorrect.">
              <a:extLst>
                <a:ext uri="{FF2B5EF4-FFF2-40B4-BE49-F238E27FC236}">
                  <a16:creationId xmlns:a16="http://schemas.microsoft.com/office/drawing/2014/main" id="{D225F2A9-92BD-AE6A-2658-5A9CC0AC38E0}"/>
                </a:ext>
              </a:extLst>
            </p:cNvPr>
            <p:cNvPicPr>
              <a:picLocks noChangeAspect="1"/>
            </p:cNvPicPr>
            <p:nvPr/>
          </p:nvPicPr>
          <p:blipFill>
            <a:blip r:embed="rId5"/>
            <a:stretch>
              <a:fillRect/>
            </a:stretch>
          </p:blipFill>
          <p:spPr>
            <a:xfrm rot="10800000">
              <a:off x="3136658" y="2992050"/>
              <a:ext cx="873900" cy="873900"/>
            </a:xfrm>
            <a:prstGeom prst="rect">
              <a:avLst/>
            </a:prstGeom>
          </p:spPr>
        </p:pic>
        <p:pic>
          <p:nvPicPr>
            <p:cNvPr id="25" name="Picture 24" descr="A cartoon of buildings and trees&#10;&#10;AI-generated content may be incorrect.">
              <a:extLst>
                <a:ext uri="{FF2B5EF4-FFF2-40B4-BE49-F238E27FC236}">
                  <a16:creationId xmlns:a16="http://schemas.microsoft.com/office/drawing/2014/main" id="{4A0A2F42-58CB-07AF-3362-80F088EAE6B5}"/>
                </a:ext>
              </a:extLst>
            </p:cNvPr>
            <p:cNvPicPr>
              <a:picLocks noChangeAspect="1"/>
            </p:cNvPicPr>
            <p:nvPr/>
          </p:nvPicPr>
          <p:blipFill>
            <a:blip r:embed="rId6"/>
            <a:stretch>
              <a:fillRect/>
            </a:stretch>
          </p:blipFill>
          <p:spPr>
            <a:xfrm rot="5400000">
              <a:off x="5620020" y="5362367"/>
              <a:ext cx="951958" cy="951958"/>
            </a:xfrm>
            <a:prstGeom prst="rect">
              <a:avLst/>
            </a:prstGeom>
          </p:spPr>
        </p:pic>
      </p:grpSp>
      <p:sp>
        <p:nvSpPr>
          <p:cNvPr id="6" name="TextBox 5">
            <a:extLst>
              <a:ext uri="{FF2B5EF4-FFF2-40B4-BE49-F238E27FC236}">
                <a16:creationId xmlns:a16="http://schemas.microsoft.com/office/drawing/2014/main" id="{4DC66FFA-15E2-7A62-10BA-A11318FCCD00}"/>
              </a:ext>
            </a:extLst>
          </p:cNvPr>
          <p:cNvSpPr txBox="1"/>
          <p:nvPr/>
        </p:nvSpPr>
        <p:spPr>
          <a:xfrm>
            <a:off x="4177890" y="-5264822"/>
            <a:ext cx="7237038" cy="3693319"/>
          </a:xfrm>
          <a:prstGeom prst="rect">
            <a:avLst/>
          </a:prstGeom>
          <a:noFill/>
        </p:spPr>
        <p:txBody>
          <a:bodyPr wrap="square" rtlCol="0">
            <a:spAutoFit/>
          </a:bodyPr>
          <a:lstStyle/>
          <a:p>
            <a:r>
              <a:rPr lang="en-IN" b="1" u="sng" dirty="0"/>
              <a:t>Cities: </a:t>
            </a:r>
          </a:p>
          <a:p>
            <a:br>
              <a:rPr lang="en-IN" dirty="0"/>
            </a:br>
            <a:r>
              <a:rPr lang="en-IN" dirty="0"/>
              <a:t>Squamish, Langley and </a:t>
            </a:r>
            <a:r>
              <a:rPr lang="en-IN" dirty="0" err="1"/>
              <a:t>Fernie</a:t>
            </a:r>
            <a:r>
              <a:rPr lang="en-IN" dirty="0"/>
              <a:t> are performing better even with higher Average population growth. </a:t>
            </a:r>
          </a:p>
          <a:p>
            <a:endParaRPr lang="en-IN" dirty="0"/>
          </a:p>
          <a:p>
            <a:r>
              <a:rPr lang="en-IN" dirty="0"/>
              <a:t>Amstrong has a lot to improve with wait times.</a:t>
            </a:r>
          </a:p>
          <a:p>
            <a:endParaRPr lang="en-IN" dirty="0"/>
          </a:p>
          <a:p>
            <a:r>
              <a:rPr lang="en-IN" dirty="0"/>
              <a:t>While Vancouver is doing pretty good staying in the middle even when performing the highest number of surgeries. </a:t>
            </a:r>
          </a:p>
          <a:p>
            <a:endParaRPr lang="en-IN" dirty="0"/>
          </a:p>
          <a:p>
            <a:endParaRPr lang="en-IN" dirty="0"/>
          </a:p>
          <a:p>
            <a:endParaRPr lang="en-IN" dirty="0"/>
          </a:p>
          <a:p>
            <a:endParaRPr lang="en-IN" dirty="0"/>
          </a:p>
        </p:txBody>
      </p:sp>
      <p:sp>
        <p:nvSpPr>
          <p:cNvPr id="8" name="TextBox 7">
            <a:extLst>
              <a:ext uri="{FF2B5EF4-FFF2-40B4-BE49-F238E27FC236}">
                <a16:creationId xmlns:a16="http://schemas.microsoft.com/office/drawing/2014/main" id="{A6B833E4-92E0-B1D2-7CE8-92E57F979976}"/>
              </a:ext>
            </a:extLst>
          </p:cNvPr>
          <p:cNvSpPr txBox="1"/>
          <p:nvPr/>
        </p:nvSpPr>
        <p:spPr>
          <a:xfrm>
            <a:off x="4177890" y="7270078"/>
            <a:ext cx="7237038" cy="2031325"/>
          </a:xfrm>
          <a:prstGeom prst="rect">
            <a:avLst/>
          </a:prstGeom>
          <a:noFill/>
        </p:spPr>
        <p:txBody>
          <a:bodyPr wrap="square" rtlCol="0">
            <a:spAutoFit/>
          </a:bodyPr>
          <a:lstStyle/>
          <a:p>
            <a:r>
              <a:rPr lang="en-IN" b="1" u="sng" dirty="0"/>
              <a:t>Procedures:</a:t>
            </a:r>
          </a:p>
          <a:p>
            <a:endParaRPr lang="en-IN" b="1" u="sng" dirty="0"/>
          </a:p>
          <a:p>
            <a:r>
              <a:rPr lang="en-IN" dirty="0"/>
              <a:t>Cataract, Lens &amp; Vitreous Surgeries seems to be the one that people in the top cities are waiting for Suggesting that we need more Ophthalmic surgeon.  </a:t>
            </a:r>
          </a:p>
          <a:p>
            <a:endParaRPr lang="en-IN" dirty="0"/>
          </a:p>
          <a:p>
            <a:endParaRPr lang="en-IN" dirty="0"/>
          </a:p>
        </p:txBody>
      </p:sp>
    </p:spTree>
    <p:extLst>
      <p:ext uri="{BB962C8B-B14F-4D97-AF65-F5344CB8AC3E}">
        <p14:creationId xmlns:p14="http://schemas.microsoft.com/office/powerpoint/2010/main" val="14411068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9CDA0-AC82-D987-E2DC-73433D5551B2}"/>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2C8F4F8A-AD27-7B0E-C410-4C12634BAD80}"/>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5D9FB517-D492-6829-B5E0-87767FEF91C2}"/>
              </a:ext>
            </a:extLst>
          </p:cNvPr>
          <p:cNvSpPr txBox="1">
            <a:spLocks/>
          </p:cNvSpPr>
          <p:nvPr/>
        </p:nvSpPr>
        <p:spPr>
          <a:xfrm>
            <a:off x="3966874" y="315100"/>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Insights</a:t>
            </a:r>
          </a:p>
        </p:txBody>
      </p:sp>
      <p:sp>
        <p:nvSpPr>
          <p:cNvPr id="4" name="TextBox 3">
            <a:extLst>
              <a:ext uri="{FF2B5EF4-FFF2-40B4-BE49-F238E27FC236}">
                <a16:creationId xmlns:a16="http://schemas.microsoft.com/office/drawing/2014/main" id="{C5D6C5B1-9430-AC1B-4538-A666A23ADA9A}"/>
              </a:ext>
            </a:extLst>
          </p:cNvPr>
          <p:cNvSpPr txBox="1"/>
          <p:nvPr/>
        </p:nvSpPr>
        <p:spPr>
          <a:xfrm>
            <a:off x="4177890" y="2278978"/>
            <a:ext cx="7237038" cy="2031325"/>
          </a:xfrm>
          <a:prstGeom prst="rect">
            <a:avLst/>
          </a:prstGeom>
          <a:noFill/>
        </p:spPr>
        <p:txBody>
          <a:bodyPr wrap="square" rtlCol="0">
            <a:spAutoFit/>
          </a:bodyPr>
          <a:lstStyle/>
          <a:p>
            <a:r>
              <a:rPr lang="en-IN" b="1" u="sng" dirty="0"/>
              <a:t>Procedures:</a:t>
            </a:r>
          </a:p>
          <a:p>
            <a:endParaRPr lang="en-IN" b="1" u="sng" dirty="0"/>
          </a:p>
          <a:p>
            <a:r>
              <a:rPr lang="en-IN" dirty="0"/>
              <a:t>Cataract, Lens &amp; Vitreous Surgeries seems to be the one that people in the top cities are waiting for Suggesting that we need more Ophthalmic surgeon.  </a:t>
            </a:r>
          </a:p>
          <a:p>
            <a:endParaRPr lang="en-IN" dirty="0"/>
          </a:p>
          <a:p>
            <a:endParaRPr lang="en-IN" dirty="0"/>
          </a:p>
        </p:txBody>
      </p:sp>
      <p:grpSp>
        <p:nvGrpSpPr>
          <p:cNvPr id="5" name="Group 4">
            <a:extLst>
              <a:ext uri="{FF2B5EF4-FFF2-40B4-BE49-F238E27FC236}">
                <a16:creationId xmlns:a16="http://schemas.microsoft.com/office/drawing/2014/main" id="{6D5D0642-F822-7A18-5EF1-5608A2C2F87A}"/>
              </a:ext>
            </a:extLst>
          </p:cNvPr>
          <p:cNvGrpSpPr/>
          <p:nvPr/>
        </p:nvGrpSpPr>
        <p:grpSpPr>
          <a:xfrm rot="5400000">
            <a:off x="-3061536" y="511629"/>
            <a:ext cx="6123071" cy="6096000"/>
            <a:chOff x="2925608" y="381000"/>
            <a:chExt cx="6123071" cy="6096000"/>
          </a:xfrm>
        </p:grpSpPr>
        <p:sp>
          <p:nvSpPr>
            <p:cNvPr id="7" name="Circle: Hollow 6">
              <a:extLst>
                <a:ext uri="{FF2B5EF4-FFF2-40B4-BE49-F238E27FC236}">
                  <a16:creationId xmlns:a16="http://schemas.microsoft.com/office/drawing/2014/main" id="{AA6D1561-7B24-72CA-7330-47D141A58847}"/>
                </a:ext>
              </a:extLst>
            </p:cNvPr>
            <p:cNvSpPr/>
            <p:nvPr/>
          </p:nvSpPr>
          <p:spPr>
            <a:xfrm>
              <a:off x="3258458" y="736600"/>
              <a:ext cx="5384800" cy="5384800"/>
            </a:xfrm>
            <a:prstGeom prst="donut">
              <a:avLst>
                <a:gd name="adj" fmla="val 1150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Oval 8">
              <a:extLst>
                <a:ext uri="{FF2B5EF4-FFF2-40B4-BE49-F238E27FC236}">
                  <a16:creationId xmlns:a16="http://schemas.microsoft.com/office/drawing/2014/main" id="{64C00209-629B-C9EB-847B-666EAAF87994}"/>
                </a:ext>
              </a:extLst>
            </p:cNvPr>
            <p:cNvSpPr/>
            <p:nvPr/>
          </p:nvSpPr>
          <p:spPr>
            <a:xfrm>
              <a:off x="5448000" y="3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25DE3AE5-01CB-ED77-C86D-6D6637CD141F}"/>
                </a:ext>
              </a:extLst>
            </p:cNvPr>
            <p:cNvSpPr/>
            <p:nvPr/>
          </p:nvSpPr>
          <p:spPr>
            <a:xfrm>
              <a:off x="5448000" y="51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60D3F71-EB32-1F71-4B50-BF4D4D2BE4F8}"/>
                </a:ext>
              </a:extLst>
            </p:cNvPr>
            <p:cNvSpPr/>
            <p:nvPr/>
          </p:nvSpPr>
          <p:spPr>
            <a:xfrm>
              <a:off x="7752679" y="27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5E248CFA-FCFA-560D-82E0-A54074397A4D}"/>
                </a:ext>
              </a:extLst>
            </p:cNvPr>
            <p:cNvSpPr/>
            <p:nvPr/>
          </p:nvSpPr>
          <p:spPr>
            <a:xfrm>
              <a:off x="2925608" y="2781000"/>
              <a:ext cx="1296000" cy="129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descr="A group of blue people">
              <a:extLst>
                <a:ext uri="{FF2B5EF4-FFF2-40B4-BE49-F238E27FC236}">
                  <a16:creationId xmlns:a16="http://schemas.microsoft.com/office/drawing/2014/main" id="{AEF18C38-A9B4-EB67-F0FA-AF6B64D6E0A7}"/>
                </a:ext>
              </a:extLst>
            </p:cNvPr>
            <p:cNvPicPr>
              <a:picLocks noChangeAspect="1"/>
            </p:cNvPicPr>
            <p:nvPr/>
          </p:nvPicPr>
          <p:blipFill>
            <a:blip r:embed="rId3"/>
            <a:stretch>
              <a:fillRect/>
            </a:stretch>
          </p:blipFill>
          <p:spPr>
            <a:xfrm>
              <a:off x="7752679" y="2781000"/>
              <a:ext cx="1296000" cy="1296000"/>
            </a:xfrm>
            <a:prstGeom prst="rect">
              <a:avLst/>
            </a:prstGeom>
          </p:spPr>
        </p:pic>
        <p:pic>
          <p:nvPicPr>
            <p:cNvPr id="23" name="Picture 22" descr="A hand holding a battery&#10;&#10;AI-generated content may be incorrect.">
              <a:extLst>
                <a:ext uri="{FF2B5EF4-FFF2-40B4-BE49-F238E27FC236}">
                  <a16:creationId xmlns:a16="http://schemas.microsoft.com/office/drawing/2014/main" id="{7BB873F4-11FC-2AAD-C2DA-1C6ABB8B0D9D}"/>
                </a:ext>
              </a:extLst>
            </p:cNvPr>
            <p:cNvPicPr>
              <a:picLocks noChangeAspect="1"/>
            </p:cNvPicPr>
            <p:nvPr/>
          </p:nvPicPr>
          <p:blipFill>
            <a:blip r:embed="rId4"/>
            <a:stretch>
              <a:fillRect/>
            </a:stretch>
          </p:blipFill>
          <p:spPr>
            <a:xfrm rot="16200000">
              <a:off x="5610675" y="543675"/>
              <a:ext cx="970649" cy="970649"/>
            </a:xfrm>
            <a:prstGeom prst="rect">
              <a:avLst/>
            </a:prstGeom>
          </p:spPr>
        </p:pic>
        <p:pic>
          <p:nvPicPr>
            <p:cNvPr id="24" name="Picture 23" descr="A hands holding a shield with a cross&#10;&#10;AI-generated content may be incorrect.">
              <a:extLst>
                <a:ext uri="{FF2B5EF4-FFF2-40B4-BE49-F238E27FC236}">
                  <a16:creationId xmlns:a16="http://schemas.microsoft.com/office/drawing/2014/main" id="{75EDDF32-C0EA-B531-5346-B74A9E322087}"/>
                </a:ext>
              </a:extLst>
            </p:cNvPr>
            <p:cNvPicPr>
              <a:picLocks noChangeAspect="1"/>
            </p:cNvPicPr>
            <p:nvPr/>
          </p:nvPicPr>
          <p:blipFill>
            <a:blip r:embed="rId5"/>
            <a:stretch>
              <a:fillRect/>
            </a:stretch>
          </p:blipFill>
          <p:spPr>
            <a:xfrm rot="10800000">
              <a:off x="3136658" y="2992050"/>
              <a:ext cx="873900" cy="873900"/>
            </a:xfrm>
            <a:prstGeom prst="rect">
              <a:avLst/>
            </a:prstGeom>
          </p:spPr>
        </p:pic>
        <p:pic>
          <p:nvPicPr>
            <p:cNvPr id="25" name="Picture 24" descr="A cartoon of buildings and trees&#10;&#10;AI-generated content may be incorrect.">
              <a:extLst>
                <a:ext uri="{FF2B5EF4-FFF2-40B4-BE49-F238E27FC236}">
                  <a16:creationId xmlns:a16="http://schemas.microsoft.com/office/drawing/2014/main" id="{22953770-4B2C-33CC-DD53-7990AF850625}"/>
                </a:ext>
              </a:extLst>
            </p:cNvPr>
            <p:cNvPicPr>
              <a:picLocks noChangeAspect="1"/>
            </p:cNvPicPr>
            <p:nvPr/>
          </p:nvPicPr>
          <p:blipFill>
            <a:blip r:embed="rId6"/>
            <a:stretch>
              <a:fillRect/>
            </a:stretch>
          </p:blipFill>
          <p:spPr>
            <a:xfrm rot="5400000">
              <a:off x="5620020" y="5362367"/>
              <a:ext cx="951958" cy="951958"/>
            </a:xfrm>
            <a:prstGeom prst="rect">
              <a:avLst/>
            </a:prstGeom>
          </p:spPr>
        </p:pic>
      </p:grpSp>
      <p:sp>
        <p:nvSpPr>
          <p:cNvPr id="6" name="TextBox 5">
            <a:extLst>
              <a:ext uri="{FF2B5EF4-FFF2-40B4-BE49-F238E27FC236}">
                <a16:creationId xmlns:a16="http://schemas.microsoft.com/office/drawing/2014/main" id="{26E30A9D-3302-17E8-E48E-BD48B3F6CFBA}"/>
              </a:ext>
            </a:extLst>
          </p:cNvPr>
          <p:cNvSpPr txBox="1"/>
          <p:nvPr/>
        </p:nvSpPr>
        <p:spPr>
          <a:xfrm>
            <a:off x="4177890" y="-2845472"/>
            <a:ext cx="7237038" cy="1754326"/>
          </a:xfrm>
          <a:prstGeom prst="rect">
            <a:avLst/>
          </a:prstGeom>
          <a:noFill/>
        </p:spPr>
        <p:txBody>
          <a:bodyPr wrap="square" rtlCol="0">
            <a:spAutoFit/>
          </a:bodyPr>
          <a:lstStyle/>
          <a:p>
            <a:r>
              <a:rPr lang="en-IN" b="1" u="sng" dirty="0"/>
              <a:t>Health Authority: </a:t>
            </a:r>
          </a:p>
          <a:p>
            <a:endParaRPr lang="en-IN" dirty="0"/>
          </a:p>
          <a:p>
            <a:r>
              <a:rPr lang="en-IN" dirty="0"/>
              <a:t>Provincial health Service Authority is the top performer and Vancouver Island has scope of improving the wait times.</a:t>
            </a:r>
          </a:p>
          <a:p>
            <a:endParaRPr lang="en-IN" dirty="0"/>
          </a:p>
          <a:p>
            <a:endParaRPr lang="en-IN" dirty="0"/>
          </a:p>
        </p:txBody>
      </p:sp>
    </p:spTree>
    <p:extLst>
      <p:ext uri="{BB962C8B-B14F-4D97-AF65-F5344CB8AC3E}">
        <p14:creationId xmlns:p14="http://schemas.microsoft.com/office/powerpoint/2010/main" val="7365017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A8686-7BA9-E015-F524-C2F7DAEFA624}"/>
            </a:ext>
          </a:extLst>
        </p:cNvPr>
        <p:cNvGrpSpPr/>
        <p:nvPr/>
      </p:nvGrpSpPr>
      <p:grpSpPr>
        <a:xfrm>
          <a:off x="0" y="0"/>
          <a:ext cx="0" cy="0"/>
          <a:chOff x="0" y="0"/>
          <a:chExt cx="0" cy="0"/>
        </a:xfrm>
      </p:grpSpPr>
      <p:sp>
        <p:nvSpPr>
          <p:cNvPr id="3" name="Title 2" hidden="1">
            <a:extLst>
              <a:ext uri="{FF2B5EF4-FFF2-40B4-BE49-F238E27FC236}">
                <a16:creationId xmlns:a16="http://schemas.microsoft.com/office/drawing/2014/main" id="{7474098E-DD7F-2144-D763-1DB5C73B4F0C}"/>
              </a:ext>
            </a:extLst>
          </p:cNvPr>
          <p:cNvSpPr>
            <a:spLocks noGrp="1"/>
          </p:cNvSpPr>
          <p:nvPr>
            <p:ph type="title"/>
          </p:nvPr>
        </p:nvSpPr>
        <p:spPr/>
        <p:txBody>
          <a:bodyPr/>
          <a:lstStyle/>
          <a:p>
            <a:r>
              <a:rPr lang="en-US" dirty="0"/>
              <a:t>Large Image slide</a:t>
            </a:r>
          </a:p>
        </p:txBody>
      </p:sp>
      <p:sp>
        <p:nvSpPr>
          <p:cNvPr id="2" name="Title 2">
            <a:extLst>
              <a:ext uri="{FF2B5EF4-FFF2-40B4-BE49-F238E27FC236}">
                <a16:creationId xmlns:a16="http://schemas.microsoft.com/office/drawing/2014/main" id="{6488EEC5-1F3F-5A2E-7663-E9C4D04EB6E6}"/>
              </a:ext>
            </a:extLst>
          </p:cNvPr>
          <p:cNvSpPr txBox="1">
            <a:spLocks/>
          </p:cNvSpPr>
          <p:nvPr/>
        </p:nvSpPr>
        <p:spPr>
          <a:xfrm>
            <a:off x="662709" y="400825"/>
            <a:ext cx="10515600" cy="6371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r>
              <a:rPr lang="en-IN" dirty="0"/>
              <a:t>Conclusion &amp; Future Plan</a:t>
            </a:r>
          </a:p>
        </p:txBody>
      </p:sp>
      <p:sp>
        <p:nvSpPr>
          <p:cNvPr id="5" name="Rectangle: Rounded Corners 4">
            <a:extLst>
              <a:ext uri="{FF2B5EF4-FFF2-40B4-BE49-F238E27FC236}">
                <a16:creationId xmlns:a16="http://schemas.microsoft.com/office/drawing/2014/main" id="{CFD7FAEF-57F4-7B55-565B-EFC27DA4B989}"/>
              </a:ext>
            </a:extLst>
          </p:cNvPr>
          <p:cNvSpPr/>
          <p:nvPr/>
        </p:nvSpPr>
        <p:spPr>
          <a:xfrm>
            <a:off x="775252" y="1401417"/>
            <a:ext cx="5814391" cy="924339"/>
          </a:xfrm>
          <a:prstGeom prst="roundRect">
            <a:avLst/>
          </a:prstGeom>
          <a:solidFill>
            <a:schemeClr val="bg1">
              <a:lumMod val="8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We need to add more data such as Hospital capacity, Doctors/Surgeon availability etc.,</a:t>
            </a:r>
          </a:p>
        </p:txBody>
      </p:sp>
      <p:sp>
        <p:nvSpPr>
          <p:cNvPr id="6" name="Rectangle: Rounded Corners 5">
            <a:extLst>
              <a:ext uri="{FF2B5EF4-FFF2-40B4-BE49-F238E27FC236}">
                <a16:creationId xmlns:a16="http://schemas.microsoft.com/office/drawing/2014/main" id="{56FDF37D-53EB-0F26-EE34-602E9E759109}"/>
              </a:ext>
            </a:extLst>
          </p:cNvPr>
          <p:cNvSpPr/>
          <p:nvPr/>
        </p:nvSpPr>
        <p:spPr>
          <a:xfrm>
            <a:off x="775252" y="2966830"/>
            <a:ext cx="5814391" cy="924339"/>
          </a:xfrm>
          <a:prstGeom prst="roundRect">
            <a:avLst/>
          </a:prstGeom>
          <a:solidFill>
            <a:schemeClr val="bg1">
              <a:lumMod val="8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Interactive Dashboard and Executive summary has to be added to the Analysis</a:t>
            </a:r>
          </a:p>
        </p:txBody>
      </p:sp>
      <p:sp>
        <p:nvSpPr>
          <p:cNvPr id="7" name="Rectangle: Rounded Corners 6">
            <a:extLst>
              <a:ext uri="{FF2B5EF4-FFF2-40B4-BE49-F238E27FC236}">
                <a16:creationId xmlns:a16="http://schemas.microsoft.com/office/drawing/2014/main" id="{D8B60D7C-21F7-211E-B5B2-5A8BB89C6D89}"/>
              </a:ext>
            </a:extLst>
          </p:cNvPr>
          <p:cNvSpPr/>
          <p:nvPr/>
        </p:nvSpPr>
        <p:spPr>
          <a:xfrm>
            <a:off x="775252" y="4625009"/>
            <a:ext cx="5814391" cy="924339"/>
          </a:xfrm>
          <a:prstGeom prst="roundRect">
            <a:avLst/>
          </a:prstGeom>
          <a:solidFill>
            <a:schemeClr val="bg1">
              <a:lumMod val="8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Incorporate Advanced statistical Modelling/Machine Learning to predict the wait times</a:t>
            </a:r>
          </a:p>
        </p:txBody>
      </p:sp>
      <p:pic>
        <p:nvPicPr>
          <p:cNvPr id="9" name="Picture 8" descr="A person standing on top of arrows with a telescope">
            <a:extLst>
              <a:ext uri="{FF2B5EF4-FFF2-40B4-BE49-F238E27FC236}">
                <a16:creationId xmlns:a16="http://schemas.microsoft.com/office/drawing/2014/main" id="{BCAF5AD0-056A-C4F7-545D-9F022DAE7B72}"/>
              </a:ext>
            </a:extLst>
          </p:cNvPr>
          <p:cNvPicPr>
            <a:picLocks noChangeAspect="1"/>
          </p:cNvPicPr>
          <p:nvPr/>
        </p:nvPicPr>
        <p:blipFill>
          <a:blip r:embed="rId3"/>
          <a:stretch>
            <a:fillRect/>
          </a:stretch>
        </p:blipFill>
        <p:spPr>
          <a:xfrm>
            <a:off x="7189303" y="1749287"/>
            <a:ext cx="5108713" cy="5108713"/>
          </a:xfrm>
          <a:prstGeom prst="rect">
            <a:avLst/>
          </a:prstGeom>
        </p:spPr>
      </p:pic>
    </p:spTree>
    <p:extLst>
      <p:ext uri="{BB962C8B-B14F-4D97-AF65-F5344CB8AC3E}">
        <p14:creationId xmlns:p14="http://schemas.microsoft.com/office/powerpoint/2010/main" val="668000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3CA073-ABB0-4643-808B-5C18EB022752}"/>
              </a:ext>
            </a:extLst>
          </p:cNvPr>
          <p:cNvSpPr>
            <a:spLocks noGrp="1"/>
          </p:cNvSpPr>
          <p:nvPr>
            <p:ph type="title"/>
          </p:nvPr>
        </p:nvSpPr>
        <p:spPr/>
        <p:txBody>
          <a:bodyPr/>
          <a:lstStyle/>
          <a:p>
            <a:r>
              <a:rPr lang="en-US" dirty="0"/>
              <a:t>THANK</a:t>
            </a:r>
            <a:br>
              <a:rPr lang="en-US" dirty="0"/>
            </a:br>
            <a:r>
              <a:rPr lang="en-US" dirty="0"/>
              <a:t>YOU</a:t>
            </a:r>
          </a:p>
        </p:txBody>
      </p:sp>
      <p:sp>
        <p:nvSpPr>
          <p:cNvPr id="29" name="Subtitle 2">
            <a:extLst>
              <a:ext uri="{FF2B5EF4-FFF2-40B4-BE49-F238E27FC236}">
                <a16:creationId xmlns:a16="http://schemas.microsoft.com/office/drawing/2014/main" id="{1A7168F2-04B7-456D-A6BF-6219D132A9A7}"/>
              </a:ext>
            </a:extLst>
          </p:cNvPr>
          <p:cNvSpPr txBox="1">
            <a:spLocks/>
          </p:cNvSpPr>
          <p:nvPr/>
        </p:nvSpPr>
        <p:spPr>
          <a:xfrm>
            <a:off x="7129353" y="4064530"/>
            <a:ext cx="4065145" cy="247823"/>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sz="1400" kern="1200">
                <a:solidFill>
                  <a:schemeClr val="bg1"/>
                </a:solidFill>
                <a:latin typeface="+mn-lt"/>
                <a:ea typeface="+mn-ea"/>
                <a:cs typeface="+mn-cs"/>
              </a:defRPr>
            </a:lvl1pPr>
            <a:lvl2pPr marL="457200" indent="0" algn="ctr" defTabSz="914400" rtl="0" eaLnBrk="1" latinLnBrk="0" hangingPunct="1">
              <a:lnSpc>
                <a:spcPct val="100000"/>
              </a:lnSpc>
              <a:spcBef>
                <a:spcPts val="500"/>
              </a:spcBef>
              <a:spcAft>
                <a:spcPts val="500"/>
              </a:spcAft>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00000"/>
              </a:lnSpc>
              <a:spcBef>
                <a:spcPts val="500"/>
              </a:spcBef>
              <a:spcAft>
                <a:spcPts val="500"/>
              </a:spcAft>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00000"/>
              </a:lnSpc>
              <a:spcBef>
                <a:spcPts val="500"/>
              </a:spcBef>
              <a:spcAft>
                <a:spcPts val="500"/>
              </a:spcAft>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00000"/>
              </a:lnSpc>
              <a:spcBef>
                <a:spcPts val="500"/>
              </a:spcBef>
              <a:spcAft>
                <a:spcPts val="500"/>
              </a:spcAft>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Clr>
                <a:srgbClr val="00B0F0"/>
              </a:buClr>
            </a:pPr>
            <a:r>
              <a:rPr lang="en-US" sz="1800" spc="150" dirty="0" err="1">
                <a:solidFill>
                  <a:schemeClr val="tx1"/>
                </a:solidFill>
                <a:latin typeface="+mj-lt"/>
                <a:cs typeface="Gill Sans" panose="020B0502020104020203" pitchFamily="34" charset="-79"/>
              </a:rPr>
              <a:t>Muthukannan</a:t>
            </a:r>
            <a:r>
              <a:rPr lang="en-US" sz="1800" spc="150" dirty="0">
                <a:solidFill>
                  <a:schemeClr val="tx1"/>
                </a:solidFill>
                <a:latin typeface="+mj-lt"/>
                <a:cs typeface="Gill Sans" panose="020B0502020104020203" pitchFamily="34" charset="-79"/>
              </a:rPr>
              <a:t> </a:t>
            </a:r>
            <a:r>
              <a:rPr lang="en-US" sz="1800" spc="150" dirty="0" err="1">
                <a:solidFill>
                  <a:schemeClr val="tx1"/>
                </a:solidFill>
                <a:latin typeface="+mj-lt"/>
                <a:cs typeface="Gill Sans" panose="020B0502020104020203" pitchFamily="34" charset="-79"/>
              </a:rPr>
              <a:t>Gomathisamynathan</a:t>
            </a:r>
            <a:endParaRPr kumimoji="0" lang="en-US" sz="1800" u="none" strike="noStrike" kern="1200" cap="none" spc="150" normalizeH="0" baseline="0" noProof="0" dirty="0">
              <a:ln>
                <a:noFill/>
              </a:ln>
              <a:solidFill>
                <a:schemeClr val="tx1"/>
              </a:solidFill>
              <a:effectLst/>
              <a:uLnTx/>
              <a:uFillTx/>
              <a:latin typeface="+mj-lt"/>
              <a:cs typeface="Gill Sans" panose="020B0502020104020203" pitchFamily="34" charset="-79"/>
            </a:endParaRPr>
          </a:p>
        </p:txBody>
      </p:sp>
      <p:sp>
        <p:nvSpPr>
          <p:cNvPr id="30" name="Text Placeholder 17">
            <a:extLst>
              <a:ext uri="{FF2B5EF4-FFF2-40B4-BE49-F238E27FC236}">
                <a16:creationId xmlns:a16="http://schemas.microsoft.com/office/drawing/2014/main" id="{05DA5CE2-4618-4163-B778-EE5B7D499CC7}"/>
              </a:ext>
            </a:extLst>
          </p:cNvPr>
          <p:cNvSpPr txBox="1">
            <a:spLocks/>
          </p:cNvSpPr>
          <p:nvPr/>
        </p:nvSpPr>
        <p:spPr>
          <a:xfrm>
            <a:off x="7129354" y="4396452"/>
            <a:ext cx="4065144" cy="36224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lang="en-US" sz="1400" kern="1200" dirty="0" smtClean="0">
                <a:solidFill>
                  <a:schemeClr val="bg1"/>
                </a:solidFill>
                <a:latin typeface="+mn-lt"/>
                <a:ea typeface="+mn-ea"/>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lang="en-US" sz="2000" kern="1200" dirty="0" smtClean="0">
                <a:solidFill>
                  <a:schemeClr val="tx2"/>
                </a:solidFill>
                <a:latin typeface="+mn-lt"/>
                <a:ea typeface="+mn-ea"/>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lang="en-US" sz="1800" kern="1200" dirty="0" smtClean="0">
                <a:solidFill>
                  <a:schemeClr val="tx2"/>
                </a:solidFill>
                <a:latin typeface="+mn-lt"/>
                <a:ea typeface="+mn-ea"/>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lang="en-US" sz="1600" kern="1200" dirty="0" smtClean="0">
                <a:solidFill>
                  <a:schemeClr val="tx2"/>
                </a:solidFill>
                <a:latin typeface="+mn-lt"/>
                <a:ea typeface="+mn-ea"/>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lang="en-ZA" sz="1600" kern="1200" dirty="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B0F0"/>
              </a:buClr>
            </a:pPr>
            <a:r>
              <a:rPr kumimoji="0" lang="en-US" sz="1800" u="none" strike="noStrike" kern="1200" cap="none" spc="150" normalizeH="0" baseline="0" noProof="0" dirty="0">
                <a:ln>
                  <a:noFill/>
                </a:ln>
                <a:solidFill>
                  <a:schemeClr val="tx1"/>
                </a:solidFill>
                <a:effectLst/>
                <a:uLnTx/>
                <a:uFillTx/>
                <a:latin typeface="+mj-lt"/>
                <a:cs typeface="Gill Sans Light" panose="020B0302020104020203" pitchFamily="34" charset="-79"/>
              </a:rPr>
              <a:t>https://linkedin.com/gmuthukannan</a:t>
            </a:r>
          </a:p>
        </p:txBody>
      </p:sp>
      <p:sp>
        <p:nvSpPr>
          <p:cNvPr id="31" name="Text Placeholder 18">
            <a:extLst>
              <a:ext uri="{FF2B5EF4-FFF2-40B4-BE49-F238E27FC236}">
                <a16:creationId xmlns:a16="http://schemas.microsoft.com/office/drawing/2014/main" id="{EBFA468C-C482-47DB-BEFF-DA59E6F42024}"/>
              </a:ext>
            </a:extLst>
          </p:cNvPr>
          <p:cNvSpPr txBox="1">
            <a:spLocks/>
          </p:cNvSpPr>
          <p:nvPr/>
        </p:nvSpPr>
        <p:spPr>
          <a:xfrm>
            <a:off x="7129356" y="4967678"/>
            <a:ext cx="4065142" cy="195048"/>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lang="en-US" sz="1400" kern="1200" smtClean="0">
                <a:solidFill>
                  <a:schemeClr val="bg1"/>
                </a:solidFill>
                <a:latin typeface="+mn-lt"/>
                <a:ea typeface="+mn-ea"/>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lang="en-US" sz="2000" kern="1200" smtClean="0">
                <a:solidFill>
                  <a:schemeClr val="tx2"/>
                </a:solidFill>
                <a:latin typeface="+mn-lt"/>
                <a:ea typeface="+mn-ea"/>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lang="en-US" sz="1800" kern="1200" smtClean="0">
                <a:solidFill>
                  <a:schemeClr val="tx2"/>
                </a:solidFill>
                <a:latin typeface="+mn-lt"/>
                <a:ea typeface="+mn-ea"/>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lang="en-US" sz="1600" kern="1200" smtClean="0">
                <a:solidFill>
                  <a:schemeClr val="tx2"/>
                </a:solidFill>
                <a:latin typeface="+mn-lt"/>
                <a:ea typeface="+mn-ea"/>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lang="en-ZA"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500"/>
              </a:spcAft>
              <a:buClr>
                <a:srgbClr val="00B0F0"/>
              </a:buClr>
              <a:buSzTx/>
              <a:buFont typeface="Arial" panose="020B0604020202020204" pitchFamily="34" charset="0"/>
              <a:buNone/>
              <a:tabLst/>
              <a:defRPr/>
            </a:pPr>
            <a:r>
              <a:rPr kumimoji="0" lang="en-US" sz="1800" u="none" strike="noStrike" kern="1200" cap="none" spc="150" normalizeH="0" noProof="0" dirty="0" err="1">
                <a:ln>
                  <a:noFill/>
                </a:ln>
                <a:solidFill>
                  <a:schemeClr val="tx1"/>
                </a:solidFill>
                <a:effectLst/>
                <a:uLnTx/>
                <a:uFillTx/>
                <a:latin typeface="+mj-lt"/>
                <a:cs typeface="Gill Sans Light" panose="020B0302020104020203" pitchFamily="34" charset="-79"/>
              </a:rPr>
              <a:t>htt</a:t>
            </a:r>
            <a:r>
              <a:rPr lang="en-US" sz="1800" spc="150" dirty="0">
                <a:solidFill>
                  <a:schemeClr val="tx1"/>
                </a:solidFill>
                <a:latin typeface="+mj-lt"/>
                <a:cs typeface="Gill Sans Light" panose="020B0302020104020203" pitchFamily="34" charset="-79"/>
              </a:rPr>
              <a:t>ps://github.com/gmuthukannan</a:t>
            </a:r>
            <a:endParaRPr kumimoji="0" lang="en-US" sz="1800" u="none" strike="noStrike" kern="1200" cap="none" spc="150" normalizeH="0" noProof="0" dirty="0">
              <a:ln>
                <a:noFill/>
              </a:ln>
              <a:solidFill>
                <a:schemeClr val="tx1"/>
              </a:solidFill>
              <a:effectLst/>
              <a:uLnTx/>
              <a:uFillTx/>
              <a:latin typeface="+mj-lt"/>
              <a:cs typeface="Gill Sans Light" panose="020B0302020104020203" pitchFamily="34" charset="-79"/>
            </a:endParaRPr>
          </a:p>
        </p:txBody>
      </p:sp>
      <p:pic>
        <p:nvPicPr>
          <p:cNvPr id="25" name="Graphic 24">
            <a:extLst>
              <a:ext uri="{FF2B5EF4-FFF2-40B4-BE49-F238E27FC236}">
                <a16:creationId xmlns:a16="http://schemas.microsoft.com/office/drawing/2014/main" id="{3A177D19-C8E3-4F5C-9A4A-5AF061B0347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44604" y="4056918"/>
            <a:ext cx="289490" cy="265015"/>
          </a:xfrm>
          <a:prstGeom prst="rect">
            <a:avLst/>
          </a:prstGeom>
        </p:spPr>
      </p:pic>
      <p:pic>
        <p:nvPicPr>
          <p:cNvPr id="4" name="Picture 3" descr="A logo of a cat&#10;&#10;AI-generated content may be incorrect.">
            <a:extLst>
              <a:ext uri="{FF2B5EF4-FFF2-40B4-BE49-F238E27FC236}">
                <a16:creationId xmlns:a16="http://schemas.microsoft.com/office/drawing/2014/main" id="{BDD7E3B2-B7D2-ED8D-6FE8-744A9CDA7219}"/>
              </a:ext>
            </a:extLst>
          </p:cNvPr>
          <p:cNvPicPr>
            <a:picLocks noChangeAspect="1"/>
          </p:cNvPicPr>
          <p:nvPr/>
        </p:nvPicPr>
        <p:blipFill>
          <a:blip r:embed="rId4"/>
          <a:stretch>
            <a:fillRect/>
          </a:stretch>
        </p:blipFill>
        <p:spPr>
          <a:xfrm>
            <a:off x="6717322" y="4904462"/>
            <a:ext cx="333459" cy="340969"/>
          </a:xfrm>
          <a:prstGeom prst="rect">
            <a:avLst/>
          </a:prstGeom>
        </p:spPr>
      </p:pic>
      <p:pic>
        <p:nvPicPr>
          <p:cNvPr id="7" name="Picture 6" descr="A blue circle with white letters&#10;&#10;AI-generated content may be incorrect.">
            <a:extLst>
              <a:ext uri="{FF2B5EF4-FFF2-40B4-BE49-F238E27FC236}">
                <a16:creationId xmlns:a16="http://schemas.microsoft.com/office/drawing/2014/main" id="{36AA3E34-7BE3-C0DC-BCD3-61766B7B8319}"/>
              </a:ext>
            </a:extLst>
          </p:cNvPr>
          <p:cNvPicPr>
            <a:picLocks noChangeAspect="1"/>
          </p:cNvPicPr>
          <p:nvPr/>
        </p:nvPicPr>
        <p:blipFill>
          <a:blip r:embed="rId5"/>
          <a:stretch>
            <a:fillRect/>
          </a:stretch>
        </p:blipFill>
        <p:spPr>
          <a:xfrm>
            <a:off x="6726415" y="4441920"/>
            <a:ext cx="316772" cy="316772"/>
          </a:xfrm>
          <a:prstGeom prst="rect">
            <a:avLst/>
          </a:prstGeom>
        </p:spPr>
      </p:pic>
      <p:pic>
        <p:nvPicPr>
          <p:cNvPr id="17" name="Picture Placeholder 16" descr="A person on a mountain with a flag&#10;&#10;AI-generated content may be incorrect.">
            <a:extLst>
              <a:ext uri="{FF2B5EF4-FFF2-40B4-BE49-F238E27FC236}">
                <a16:creationId xmlns:a16="http://schemas.microsoft.com/office/drawing/2014/main" id="{76BB8045-891E-FBF9-5024-01C68FF489D1}"/>
              </a:ext>
            </a:extLst>
          </p:cNvPr>
          <p:cNvPicPr>
            <a:picLocks noGrp="1" noChangeAspect="1"/>
          </p:cNvPicPr>
          <p:nvPr>
            <p:ph type="pic" sz="quarter" idx="13"/>
          </p:nvPr>
        </p:nvPicPr>
        <p:blipFill>
          <a:blip r:embed="rId6"/>
          <a:srcRect l="25370" r="25370"/>
          <a:stretch>
            <a:fillRect/>
          </a:stretch>
        </p:blipFill>
        <p:spPr>
          <a:xfrm>
            <a:off x="0" y="-491806"/>
            <a:ext cx="6337509" cy="7349806"/>
          </a:xfrm>
        </p:spPr>
      </p:pic>
    </p:spTree>
    <p:extLst>
      <p:ext uri="{BB962C8B-B14F-4D97-AF65-F5344CB8AC3E}">
        <p14:creationId xmlns:p14="http://schemas.microsoft.com/office/powerpoint/2010/main" val="3809182043"/>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5078F9-D130-4E79-8F07-E7E780507177}">
  <ds:schemaRefs>
    <ds:schemaRef ds:uri="http://schemas.microsoft.com/sharepoint/v3/contenttype/forms"/>
  </ds:schemaRefs>
</ds:datastoreItem>
</file>

<file path=customXml/itemProps2.xml><?xml version="1.0" encoding="utf-8"?>
<ds:datastoreItem xmlns:ds="http://schemas.openxmlformats.org/officeDocument/2006/customXml" ds:itemID="{1C8431F2-A5DE-4862-B389-24C8222A4BD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895D74D-26D7-49C9-8A36-D41CC0C55B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Winter presentation</Template>
  <TotalTime>6739</TotalTime>
  <Words>1353</Words>
  <Application>Microsoft Office PowerPoint</Application>
  <PresentationFormat>Widescreen</PresentationFormat>
  <Paragraphs>173</Paragraphs>
  <Slides>17</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Aharoni</vt:lpstr>
      <vt:lpstr>Arial</vt:lpstr>
      <vt:lpstr>Calibri</vt:lpstr>
      <vt:lpstr>Calibri Light</vt:lpstr>
      <vt:lpstr>Gill Sans</vt:lpstr>
      <vt:lpstr>Office Theme</vt:lpstr>
      <vt:lpstr>BC Surgical Wait Times</vt:lpstr>
      <vt:lpstr>Large Image slide</vt:lpstr>
      <vt:lpstr>Large Image slide</vt:lpstr>
      <vt:lpstr>Large Image slide</vt:lpstr>
      <vt:lpstr>Large Image slide</vt:lpstr>
      <vt:lpstr>Large Image slide</vt:lpstr>
      <vt:lpstr>Large Image slide</vt:lpstr>
      <vt:lpstr>Large Image slide</vt:lpstr>
      <vt:lpstr>Large Image slide</vt:lpstr>
      <vt:lpstr>Large Image slide</vt:lpstr>
      <vt:lpstr>Large Image slide</vt:lpstr>
      <vt:lpstr>Large Image slide</vt:lpstr>
      <vt:lpstr>Large Image slide</vt:lpstr>
      <vt:lpstr>Large Image slide</vt:lpstr>
      <vt:lpstr>Large Image slide</vt:lpstr>
      <vt:lpstr>Large Image slide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MuthuKannan G</dc:creator>
  <cp:lastModifiedBy>MuthuKannan G</cp:lastModifiedBy>
  <cp:revision>23</cp:revision>
  <dcterms:created xsi:type="dcterms:W3CDTF">2025-10-28T23:33:56Z</dcterms:created>
  <dcterms:modified xsi:type="dcterms:W3CDTF">2025-11-03T00:09:49Z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